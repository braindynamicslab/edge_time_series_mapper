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8" r:id="rId2"/>
  </p:sldIdLst>
  <p:sldSz cx="121920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B4B"/>
    <a:srgbClr val="DE745F"/>
    <a:srgbClr val="609EF4"/>
    <a:srgbClr val="C4DFEC"/>
    <a:srgbClr val="F7DC6C"/>
    <a:srgbClr val="EE549F"/>
    <a:srgbClr val="78B6D2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58"/>
  </p:normalViewPr>
  <p:slideViewPr>
    <p:cSldViewPr snapToGrid="0">
      <p:cViewPr varScale="1">
        <p:scale>
          <a:sx n="50" d="100"/>
          <a:sy n="50" d="100"/>
        </p:scale>
        <p:origin x="3272" y="168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120C8-9AA5-2844-887A-035DD6499B2D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1143000"/>
            <a:ext cx="2286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97800-EACB-3148-AED6-8C1B5C883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2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D28D6-1BC6-32C8-9572-5675ED31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6ECE8-2938-B513-CDF0-29E0AA7D1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1143000"/>
            <a:ext cx="22860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B21F1-E60C-9AD3-1D93-A7879C384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408D4-09DB-3732-E3EC-B9718E13F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97800-EACB-3148-AED6-8C1B5C8830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9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671"/>
            <a:ext cx="10363200" cy="573024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644891"/>
            <a:ext cx="9144000" cy="397382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1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5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103375"/>
            <a:ext cx="10515600" cy="684656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1014715"/>
            <a:ext cx="10515600" cy="36004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3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81500"/>
            <a:ext cx="518160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81500"/>
            <a:ext cx="518160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6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76304"/>
            <a:ext cx="1051560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034791"/>
            <a:ext cx="5157787" cy="19773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6012180"/>
            <a:ext cx="5157787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034791"/>
            <a:ext cx="5183188" cy="19773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6012180"/>
            <a:ext cx="5183188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8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6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5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97280"/>
            <a:ext cx="3932237" cy="38404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69824"/>
            <a:ext cx="6172200" cy="1169670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937760"/>
            <a:ext cx="3932237" cy="914781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97280"/>
            <a:ext cx="3932237" cy="38404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69824"/>
            <a:ext cx="6172200" cy="1169670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937760"/>
            <a:ext cx="3932237" cy="914781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9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76300"/>
            <a:ext cx="262890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76300"/>
            <a:ext cx="7734300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3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76304"/>
            <a:ext cx="1051560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81500"/>
            <a:ext cx="1051560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255244"/>
            <a:ext cx="274320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534FC-24E9-9E4A-87EB-EFEB449BCBDD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255244"/>
            <a:ext cx="411480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255244"/>
            <a:ext cx="274320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133F3-9F49-6B4D-9720-C25F84D8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6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42" Type="http://schemas.openxmlformats.org/officeDocument/2006/relationships/image" Target="../media/image18.png"/><Relationship Id="rId47" Type="http://schemas.openxmlformats.org/officeDocument/2006/relationships/image" Target="../media/image23.svg"/><Relationship Id="rId50" Type="http://schemas.openxmlformats.org/officeDocument/2006/relationships/image" Target="../media/image26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41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32" Type="http://schemas.openxmlformats.org/officeDocument/2006/relationships/image" Target="../media/image30.png"/><Relationship Id="rId40" Type="http://schemas.openxmlformats.org/officeDocument/2006/relationships/image" Target="../media/image38.png"/><Relationship Id="rId45" Type="http://schemas.openxmlformats.org/officeDocument/2006/relationships/image" Target="../media/image21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36" Type="http://schemas.openxmlformats.org/officeDocument/2006/relationships/image" Target="../media/image16.svg"/><Relationship Id="rId49" Type="http://schemas.openxmlformats.org/officeDocument/2006/relationships/image" Target="../media/image25.png"/><Relationship Id="rId10" Type="http://schemas.openxmlformats.org/officeDocument/2006/relationships/image" Target="../media/image8.svg"/><Relationship Id="rId31" Type="http://schemas.openxmlformats.org/officeDocument/2006/relationships/image" Target="../media/image29.png"/><Relationship Id="rId44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19.png"/><Relationship Id="rId48" Type="http://schemas.openxmlformats.org/officeDocument/2006/relationships/image" Target="../media/image24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C3E1-F13F-6FCC-A3CB-408B1946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2" name="Picture 3321">
            <a:extLst>
              <a:ext uri="{FF2B5EF4-FFF2-40B4-BE49-F238E27FC236}">
                <a16:creationId xmlns:a16="http://schemas.microsoft.com/office/drawing/2014/main" id="{17B16162-4657-074A-83CA-7A397D8296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92" t="11520" b="14369"/>
          <a:stretch/>
        </p:blipFill>
        <p:spPr>
          <a:xfrm>
            <a:off x="5256263" y="3569573"/>
            <a:ext cx="3136334" cy="1572764"/>
          </a:xfrm>
          <a:prstGeom prst="rect">
            <a:avLst/>
          </a:prstGeom>
        </p:spPr>
      </p:pic>
      <p:pic>
        <p:nvPicPr>
          <p:cNvPr id="3321" name="Picture 3320">
            <a:extLst>
              <a:ext uri="{FF2B5EF4-FFF2-40B4-BE49-F238E27FC236}">
                <a16:creationId xmlns:a16="http://schemas.microsoft.com/office/drawing/2014/main" id="{6D64B205-8332-5425-99ED-D4E7274CD4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49" t="9878" b="14369"/>
          <a:stretch/>
        </p:blipFill>
        <p:spPr>
          <a:xfrm>
            <a:off x="9046859" y="3637118"/>
            <a:ext cx="3013990" cy="1544159"/>
          </a:xfrm>
          <a:prstGeom prst="rect">
            <a:avLst/>
          </a:prstGeom>
        </p:spPr>
      </p:pic>
      <p:pic>
        <p:nvPicPr>
          <p:cNvPr id="3099" name="Picture 3098">
            <a:extLst>
              <a:ext uri="{FF2B5EF4-FFF2-40B4-BE49-F238E27FC236}">
                <a16:creationId xmlns:a16="http://schemas.microsoft.com/office/drawing/2014/main" id="{340F6FE0-BD9F-72C5-AB6A-9FE27F7916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27" t="10425" b="14350"/>
          <a:stretch/>
        </p:blipFill>
        <p:spPr>
          <a:xfrm>
            <a:off x="1151814" y="3596504"/>
            <a:ext cx="3084988" cy="1572549"/>
          </a:xfrm>
          <a:prstGeom prst="rect">
            <a:avLst/>
          </a:prstGeom>
        </p:spPr>
      </p:pic>
      <p:pic>
        <p:nvPicPr>
          <p:cNvPr id="1028" name="Picture 1027" descr="A white brain with black background&#10;&#10;AI-generated content may be incorrect.">
            <a:extLst>
              <a:ext uri="{FF2B5EF4-FFF2-40B4-BE49-F238E27FC236}">
                <a16:creationId xmlns:a16="http://schemas.microsoft.com/office/drawing/2014/main" id="{6264F468-7AD6-DAC3-F8A6-E3B4B4F1D6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017" y="2509830"/>
            <a:ext cx="1664206" cy="16642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B2324D-B357-8407-2096-9C37D90D32BB}"/>
              </a:ext>
            </a:extLst>
          </p:cNvPr>
          <p:cNvSpPr txBox="1"/>
          <p:nvPr/>
        </p:nvSpPr>
        <p:spPr>
          <a:xfrm rot="16200000">
            <a:off x="4090247" y="6232941"/>
            <a:ext cx="2332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Time Frames (TRs)</a:t>
            </a:r>
          </a:p>
        </p:txBody>
      </p:sp>
      <p:pic>
        <p:nvPicPr>
          <p:cNvPr id="29" name="Graphic 28" descr="Angry face outline with solid fill">
            <a:extLst>
              <a:ext uri="{FF2B5EF4-FFF2-40B4-BE49-F238E27FC236}">
                <a16:creationId xmlns:a16="http://schemas.microsoft.com/office/drawing/2014/main" id="{A1C1A3A8-D848-E9B3-3A46-CA63948B1A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1300" y="1627838"/>
            <a:ext cx="481533" cy="481533"/>
          </a:xfrm>
          <a:prstGeom prst="rect">
            <a:avLst/>
          </a:prstGeom>
        </p:spPr>
      </p:pic>
      <p:pic>
        <p:nvPicPr>
          <p:cNvPr id="31" name="Graphic 30" descr="Add with solid fill">
            <a:extLst>
              <a:ext uri="{FF2B5EF4-FFF2-40B4-BE49-F238E27FC236}">
                <a16:creationId xmlns:a16="http://schemas.microsoft.com/office/drawing/2014/main" id="{76E492ED-41F5-183B-6093-875E0656C5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3353" y="1632033"/>
            <a:ext cx="473141" cy="473141"/>
          </a:xfrm>
          <a:prstGeom prst="rect">
            <a:avLst/>
          </a:prstGeom>
        </p:spPr>
      </p:pic>
      <p:pic>
        <p:nvPicPr>
          <p:cNvPr id="33" name="Graphic 32" descr="Dice with solid fill">
            <a:extLst>
              <a:ext uri="{FF2B5EF4-FFF2-40B4-BE49-F238E27FC236}">
                <a16:creationId xmlns:a16="http://schemas.microsoft.com/office/drawing/2014/main" id="{1237E9C4-BCF2-CA6A-394B-8728BCE76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17957" y="1581050"/>
            <a:ext cx="576943" cy="576943"/>
          </a:xfrm>
          <a:prstGeom prst="rect">
            <a:avLst/>
          </a:prstGeom>
        </p:spPr>
      </p:pic>
      <p:pic>
        <p:nvPicPr>
          <p:cNvPr id="35" name="Graphic 34" descr="Remote learning language with solid fill">
            <a:extLst>
              <a:ext uri="{FF2B5EF4-FFF2-40B4-BE49-F238E27FC236}">
                <a16:creationId xmlns:a16="http://schemas.microsoft.com/office/drawing/2014/main" id="{F549A2CC-6769-5B41-EC92-6F3A8970C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1186" y="1574084"/>
            <a:ext cx="564647" cy="564647"/>
          </a:xfrm>
          <a:prstGeom prst="rect">
            <a:avLst/>
          </a:prstGeom>
        </p:spPr>
      </p:pic>
      <p:pic>
        <p:nvPicPr>
          <p:cNvPr id="37" name="Graphic 36" descr="Tongue outline">
            <a:extLst>
              <a:ext uri="{FF2B5EF4-FFF2-40B4-BE49-F238E27FC236}">
                <a16:creationId xmlns:a16="http://schemas.microsoft.com/office/drawing/2014/main" id="{0F09E26C-8232-01D3-1FA7-9F287B0E1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09808" y="1752984"/>
            <a:ext cx="369332" cy="369332"/>
          </a:xfrm>
          <a:prstGeom prst="rect">
            <a:avLst/>
          </a:prstGeom>
        </p:spPr>
      </p:pic>
      <p:pic>
        <p:nvPicPr>
          <p:cNvPr id="39" name="Graphic 38" descr="Foot outline">
            <a:extLst>
              <a:ext uri="{FF2B5EF4-FFF2-40B4-BE49-F238E27FC236}">
                <a16:creationId xmlns:a16="http://schemas.microsoft.com/office/drawing/2014/main" id="{4E5C14E9-987D-A066-7731-AA9E404BD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2447" y="1769038"/>
            <a:ext cx="270569" cy="270569"/>
          </a:xfrm>
          <a:prstGeom prst="rect">
            <a:avLst/>
          </a:prstGeom>
        </p:spPr>
      </p:pic>
      <p:pic>
        <p:nvPicPr>
          <p:cNvPr id="41" name="Graphic 40" descr="Raised hand outline">
            <a:extLst>
              <a:ext uri="{FF2B5EF4-FFF2-40B4-BE49-F238E27FC236}">
                <a16:creationId xmlns:a16="http://schemas.microsoft.com/office/drawing/2014/main" id="{7338069A-0D0E-E9D1-1E79-F891F6F95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15375" y="1578644"/>
            <a:ext cx="303911" cy="303911"/>
          </a:xfrm>
          <a:prstGeom prst="rect">
            <a:avLst/>
          </a:prstGeom>
        </p:spPr>
      </p:pic>
      <p:pic>
        <p:nvPicPr>
          <p:cNvPr id="43" name="Graphic 42" descr="Pyramid Shape with solid fill">
            <a:extLst>
              <a:ext uri="{FF2B5EF4-FFF2-40B4-BE49-F238E27FC236}">
                <a16:creationId xmlns:a16="http://schemas.microsoft.com/office/drawing/2014/main" id="{B5706762-047D-8543-DB26-239CBD999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84430" y="1717138"/>
            <a:ext cx="272782" cy="272782"/>
          </a:xfrm>
          <a:prstGeom prst="rect">
            <a:avLst/>
          </a:prstGeom>
        </p:spPr>
      </p:pic>
      <p:pic>
        <p:nvPicPr>
          <p:cNvPr id="46" name="Graphic 45" descr="Sphere with solid fill">
            <a:extLst>
              <a:ext uri="{FF2B5EF4-FFF2-40B4-BE49-F238E27FC236}">
                <a16:creationId xmlns:a16="http://schemas.microsoft.com/office/drawing/2014/main" id="{333A2D02-ED05-2797-D617-D2EA466A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16458" y="1717146"/>
            <a:ext cx="272783" cy="281459"/>
          </a:xfrm>
          <a:prstGeom prst="rect">
            <a:avLst/>
          </a:prstGeom>
        </p:spPr>
      </p:pic>
      <p:pic>
        <p:nvPicPr>
          <p:cNvPr id="48" name="Graphic 47" descr="Basic Shapes with solid fill">
            <a:extLst>
              <a:ext uri="{FF2B5EF4-FFF2-40B4-BE49-F238E27FC236}">
                <a16:creationId xmlns:a16="http://schemas.microsoft.com/office/drawing/2014/main" id="{B4257F87-71ED-7FE3-684B-0ABD1B6BB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29336" y="1586450"/>
            <a:ext cx="576946" cy="576946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9C125F0F-19E7-020E-4287-2DB879C7A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344509" y="1604639"/>
            <a:ext cx="497780" cy="497780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DB7C5C0B-7C3A-36E9-AF46-45A5F1A5191B}"/>
              </a:ext>
            </a:extLst>
          </p:cNvPr>
          <p:cNvSpPr/>
          <p:nvPr/>
        </p:nvSpPr>
        <p:spPr>
          <a:xfrm>
            <a:off x="2413086" y="3275580"/>
            <a:ext cx="159141" cy="159141"/>
          </a:xfrm>
          <a:prstGeom prst="ellipse">
            <a:avLst/>
          </a:prstGeom>
          <a:solidFill>
            <a:schemeClr val="tx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8" name="Picture 1057" descr="A white brain with black background&#10;&#10;AI-generated content may be incorrect.">
            <a:extLst>
              <a:ext uri="{FF2B5EF4-FFF2-40B4-BE49-F238E27FC236}">
                <a16:creationId xmlns:a16="http://schemas.microsoft.com/office/drawing/2014/main" id="{D77AC24A-5AD6-17F3-A70B-844506929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3623" y="2477804"/>
            <a:ext cx="1664206" cy="1664206"/>
          </a:xfrm>
          <a:prstGeom prst="rect">
            <a:avLst/>
          </a:prstGeom>
        </p:spPr>
      </p:pic>
      <p:sp>
        <p:nvSpPr>
          <p:cNvPr id="1060" name="Oval 1059">
            <a:extLst>
              <a:ext uri="{FF2B5EF4-FFF2-40B4-BE49-F238E27FC236}">
                <a16:creationId xmlns:a16="http://schemas.microsoft.com/office/drawing/2014/main" id="{0B1AA066-21AC-7EE2-BBDE-B4B44F8B903D}"/>
              </a:ext>
            </a:extLst>
          </p:cNvPr>
          <p:cNvSpPr/>
          <p:nvPr/>
        </p:nvSpPr>
        <p:spPr>
          <a:xfrm>
            <a:off x="6164962" y="2922871"/>
            <a:ext cx="159141" cy="159141"/>
          </a:xfrm>
          <a:prstGeom prst="ellipse">
            <a:avLst/>
          </a:prstGeom>
          <a:solidFill>
            <a:schemeClr val="tx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6638145B-8C16-B23E-72F9-C6A2C8D98132}"/>
              </a:ext>
            </a:extLst>
          </p:cNvPr>
          <p:cNvSpPr/>
          <p:nvPr/>
        </p:nvSpPr>
        <p:spPr>
          <a:xfrm>
            <a:off x="6289765" y="3241542"/>
            <a:ext cx="159141" cy="159141"/>
          </a:xfrm>
          <a:prstGeom prst="ellipse">
            <a:avLst/>
          </a:prstGeom>
          <a:solidFill>
            <a:schemeClr val="tx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B40D0B38-B385-98A0-8175-FD603A8491F0}"/>
              </a:ext>
            </a:extLst>
          </p:cNvPr>
          <p:cNvCxnSpPr>
            <a:cxnSpLocks/>
            <a:endCxn id="1060" idx="5"/>
          </p:cNvCxnSpPr>
          <p:nvPr/>
        </p:nvCxnSpPr>
        <p:spPr>
          <a:xfrm flipH="1" flipV="1">
            <a:off x="6300789" y="3058706"/>
            <a:ext cx="55180" cy="18038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5" name="Picture 1064" descr="A white brain with black background&#10;&#10;AI-generated content may be incorrect.">
            <a:extLst>
              <a:ext uri="{FF2B5EF4-FFF2-40B4-BE49-F238E27FC236}">
                <a16:creationId xmlns:a16="http://schemas.microsoft.com/office/drawing/2014/main" id="{57CD5848-5A55-00E4-85AF-DE7F46B74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556" y="2487934"/>
            <a:ext cx="1664206" cy="1664206"/>
          </a:xfrm>
          <a:prstGeom prst="rect">
            <a:avLst/>
          </a:prstGeom>
        </p:spPr>
      </p:pic>
      <p:sp>
        <p:nvSpPr>
          <p:cNvPr id="1066" name="Oval 1065">
            <a:extLst>
              <a:ext uri="{FF2B5EF4-FFF2-40B4-BE49-F238E27FC236}">
                <a16:creationId xmlns:a16="http://schemas.microsoft.com/office/drawing/2014/main" id="{EA20F32E-F52B-9F5C-06EF-6A5F33B2DCEA}"/>
              </a:ext>
            </a:extLst>
          </p:cNvPr>
          <p:cNvSpPr/>
          <p:nvPr/>
        </p:nvSpPr>
        <p:spPr>
          <a:xfrm>
            <a:off x="10530556" y="3177008"/>
            <a:ext cx="159141" cy="159141"/>
          </a:xfrm>
          <a:prstGeom prst="ellipse">
            <a:avLst/>
          </a:prstGeom>
          <a:solidFill>
            <a:schemeClr val="tx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Oval 1066">
            <a:extLst>
              <a:ext uri="{FF2B5EF4-FFF2-40B4-BE49-F238E27FC236}">
                <a16:creationId xmlns:a16="http://schemas.microsoft.com/office/drawing/2014/main" id="{9D23E810-CEC1-60AE-1139-88237945CECB}"/>
              </a:ext>
            </a:extLst>
          </p:cNvPr>
          <p:cNvSpPr/>
          <p:nvPr/>
        </p:nvSpPr>
        <p:spPr>
          <a:xfrm>
            <a:off x="10040895" y="2933001"/>
            <a:ext cx="159141" cy="159141"/>
          </a:xfrm>
          <a:prstGeom prst="ellipse">
            <a:avLst/>
          </a:prstGeom>
          <a:solidFill>
            <a:schemeClr val="tx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C13734DA-F438-7598-F7BA-A1CF9D4EB114}"/>
              </a:ext>
            </a:extLst>
          </p:cNvPr>
          <p:cNvSpPr/>
          <p:nvPr/>
        </p:nvSpPr>
        <p:spPr>
          <a:xfrm>
            <a:off x="10165698" y="3251672"/>
            <a:ext cx="159141" cy="159141"/>
          </a:xfrm>
          <a:prstGeom prst="ellipse">
            <a:avLst/>
          </a:prstGeom>
          <a:solidFill>
            <a:schemeClr val="tx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9" name="Straight Connector 1068">
            <a:extLst>
              <a:ext uri="{FF2B5EF4-FFF2-40B4-BE49-F238E27FC236}">
                <a16:creationId xmlns:a16="http://schemas.microsoft.com/office/drawing/2014/main" id="{B050AEF8-E018-48ED-107E-B63F5B635162}"/>
              </a:ext>
            </a:extLst>
          </p:cNvPr>
          <p:cNvCxnSpPr>
            <a:stCxn id="1068" idx="6"/>
            <a:endCxn id="1066" idx="2"/>
          </p:cNvCxnSpPr>
          <p:nvPr/>
        </p:nvCxnSpPr>
        <p:spPr>
          <a:xfrm flipV="1">
            <a:off x="10324839" y="3256571"/>
            <a:ext cx="205717" cy="7466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2857F8D0-8ED6-B809-9CD9-D0AEA5CDDCC8}"/>
              </a:ext>
            </a:extLst>
          </p:cNvPr>
          <p:cNvCxnSpPr>
            <a:cxnSpLocks/>
            <a:endCxn id="1067" idx="5"/>
          </p:cNvCxnSpPr>
          <p:nvPr/>
        </p:nvCxnSpPr>
        <p:spPr>
          <a:xfrm flipH="1" flipV="1">
            <a:off x="10176722" y="3068836"/>
            <a:ext cx="55180" cy="18038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1070">
            <a:extLst>
              <a:ext uri="{FF2B5EF4-FFF2-40B4-BE49-F238E27FC236}">
                <a16:creationId xmlns:a16="http://schemas.microsoft.com/office/drawing/2014/main" id="{596A9688-21DE-9F5B-2A88-74F708A05F5D}"/>
              </a:ext>
            </a:extLst>
          </p:cNvPr>
          <p:cNvCxnSpPr>
            <a:cxnSpLocks/>
            <a:endCxn id="1066" idx="1"/>
          </p:cNvCxnSpPr>
          <p:nvPr/>
        </p:nvCxnSpPr>
        <p:spPr>
          <a:xfrm>
            <a:off x="10206839" y="3012564"/>
            <a:ext cx="347023" cy="187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0" name="TextBox 1079">
                <a:extLst>
                  <a:ext uri="{FF2B5EF4-FFF2-40B4-BE49-F238E27FC236}">
                    <a16:creationId xmlns:a16="http://schemas.microsoft.com/office/drawing/2014/main" id="{60DF1F11-04EB-F04F-A638-1727D4D47253}"/>
                  </a:ext>
                </a:extLst>
              </p:cNvPr>
              <p:cNvSpPr txBox="1"/>
              <p:nvPr/>
            </p:nvSpPr>
            <p:spPr>
              <a:xfrm>
                <a:off x="10069836" y="3207583"/>
                <a:ext cx="3524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1000" b="1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80" name="TextBox 1079">
                <a:extLst>
                  <a:ext uri="{FF2B5EF4-FFF2-40B4-BE49-F238E27FC236}">
                    <a16:creationId xmlns:a16="http://schemas.microsoft.com/office/drawing/2014/main" id="{60DF1F11-04EB-F04F-A638-1727D4D47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9836" y="3207583"/>
                <a:ext cx="352425" cy="24622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6" name="TextBox 1085">
            <a:extLst>
              <a:ext uri="{FF2B5EF4-FFF2-40B4-BE49-F238E27FC236}">
                <a16:creationId xmlns:a16="http://schemas.microsoft.com/office/drawing/2014/main" id="{664797BB-1163-1F35-8346-9E3CDA566B9B}"/>
              </a:ext>
            </a:extLst>
          </p:cNvPr>
          <p:cNvSpPr txBox="1"/>
          <p:nvPr/>
        </p:nvSpPr>
        <p:spPr>
          <a:xfrm>
            <a:off x="10480104" y="3125806"/>
            <a:ext cx="3524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FFC5F846-5EA7-B194-9C6D-D3C312B8C37D}"/>
                  </a:ext>
                </a:extLst>
              </p:cNvPr>
              <p:cNvSpPr txBox="1"/>
              <p:nvPr/>
            </p:nvSpPr>
            <p:spPr>
              <a:xfrm>
                <a:off x="6193122" y="3202431"/>
                <a:ext cx="3524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1000" b="1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FFC5F846-5EA7-B194-9C6D-D3C312B8C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122" y="3202431"/>
                <a:ext cx="352425" cy="24622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2" name="TextBox 3071">
                <a:extLst>
                  <a:ext uri="{FF2B5EF4-FFF2-40B4-BE49-F238E27FC236}">
                    <a16:creationId xmlns:a16="http://schemas.microsoft.com/office/drawing/2014/main" id="{C9AA9B8C-6ECE-FDBB-238D-0C1C925536CB}"/>
                  </a:ext>
                </a:extLst>
              </p:cNvPr>
              <p:cNvSpPr txBox="1"/>
              <p:nvPr/>
            </p:nvSpPr>
            <p:spPr>
              <a:xfrm>
                <a:off x="2316443" y="3236469"/>
                <a:ext cx="3524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1000" b="1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72" name="TextBox 3071">
                <a:extLst>
                  <a:ext uri="{FF2B5EF4-FFF2-40B4-BE49-F238E27FC236}">
                    <a16:creationId xmlns:a16="http://schemas.microsoft.com/office/drawing/2014/main" id="{C9AA9B8C-6ECE-FDBB-238D-0C1C92553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43" y="3236469"/>
                <a:ext cx="352425" cy="24622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" name="TextBox 3074">
            <a:extLst>
              <a:ext uri="{FF2B5EF4-FFF2-40B4-BE49-F238E27FC236}">
                <a16:creationId xmlns:a16="http://schemas.microsoft.com/office/drawing/2014/main" id="{1412DFAC-BC5D-91B6-C5A8-E72BDB69F7B7}"/>
              </a:ext>
            </a:extLst>
          </p:cNvPr>
          <p:cNvSpPr txBox="1"/>
          <p:nvPr/>
        </p:nvSpPr>
        <p:spPr>
          <a:xfrm>
            <a:off x="10003613" y="2876450"/>
            <a:ext cx="3524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</a:p>
        </p:txBody>
      </p:sp>
      <p:sp>
        <p:nvSpPr>
          <p:cNvPr id="3077" name="TextBox 3076">
            <a:extLst>
              <a:ext uri="{FF2B5EF4-FFF2-40B4-BE49-F238E27FC236}">
                <a16:creationId xmlns:a16="http://schemas.microsoft.com/office/drawing/2014/main" id="{B3E89060-E5F4-7F1C-B9B5-CE9B3787E02E}"/>
              </a:ext>
            </a:extLst>
          </p:cNvPr>
          <p:cNvSpPr txBox="1"/>
          <p:nvPr/>
        </p:nvSpPr>
        <p:spPr>
          <a:xfrm>
            <a:off x="6133139" y="2869455"/>
            <a:ext cx="3524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8" name="TextBox 3107">
                <a:extLst>
                  <a:ext uri="{FF2B5EF4-FFF2-40B4-BE49-F238E27FC236}">
                    <a16:creationId xmlns:a16="http://schemas.microsoft.com/office/drawing/2014/main" id="{F0903B67-63F7-22E3-EF40-370CC1E3B518}"/>
                  </a:ext>
                </a:extLst>
              </p:cNvPr>
              <p:cNvSpPr txBox="1"/>
              <p:nvPr/>
            </p:nvSpPr>
            <p:spPr>
              <a:xfrm>
                <a:off x="9554904" y="3938177"/>
                <a:ext cx="2023503" cy="232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08" name="TextBox 3107">
                <a:extLst>
                  <a:ext uri="{FF2B5EF4-FFF2-40B4-BE49-F238E27FC236}">
                    <a16:creationId xmlns:a16="http://schemas.microsoft.com/office/drawing/2014/main" id="{F0903B67-63F7-22E3-EF40-370CC1E3B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904" y="3938177"/>
                <a:ext cx="2023503" cy="232756"/>
              </a:xfrm>
              <a:prstGeom prst="rect">
                <a:avLst/>
              </a:prstGeom>
              <a:blipFill>
                <a:blip r:embed="rId32"/>
                <a:stretch>
                  <a:fillRect l="-1875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9" name="TextBox 3108">
                <a:extLst>
                  <a:ext uri="{FF2B5EF4-FFF2-40B4-BE49-F238E27FC236}">
                    <a16:creationId xmlns:a16="http://schemas.microsoft.com/office/drawing/2014/main" id="{FDE78CA2-15FC-1B3F-FAAF-F1C5A4027570}"/>
                  </a:ext>
                </a:extLst>
              </p:cNvPr>
              <p:cNvSpPr txBox="1"/>
              <p:nvPr/>
            </p:nvSpPr>
            <p:spPr>
              <a:xfrm>
                <a:off x="5797083" y="3932000"/>
                <a:ext cx="1512850" cy="232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400" i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109" name="TextBox 3108">
                <a:extLst>
                  <a:ext uri="{FF2B5EF4-FFF2-40B4-BE49-F238E27FC236}">
                    <a16:creationId xmlns:a16="http://schemas.microsoft.com/office/drawing/2014/main" id="{FDE78CA2-15FC-1B3F-FAAF-F1C5A4027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083" y="3932000"/>
                <a:ext cx="1512850" cy="232756"/>
              </a:xfrm>
              <a:prstGeom prst="rect">
                <a:avLst/>
              </a:prstGeom>
              <a:blipFill>
                <a:blip r:embed="rId33"/>
                <a:stretch>
                  <a:fillRect l="-1667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0" name="TextBox 3109">
                <a:extLst>
                  <a:ext uri="{FF2B5EF4-FFF2-40B4-BE49-F238E27FC236}">
                    <a16:creationId xmlns:a16="http://schemas.microsoft.com/office/drawing/2014/main" id="{DB432C2F-72C4-3DD1-578B-707CAFE2D282}"/>
                  </a:ext>
                </a:extLst>
              </p:cNvPr>
              <p:cNvSpPr txBox="1"/>
              <p:nvPr/>
            </p:nvSpPr>
            <p:spPr>
              <a:xfrm>
                <a:off x="1233049" y="3881920"/>
                <a:ext cx="95968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10" name="TextBox 3109">
                <a:extLst>
                  <a:ext uri="{FF2B5EF4-FFF2-40B4-BE49-F238E27FC236}">
                    <a16:creationId xmlns:a16="http://schemas.microsoft.com/office/drawing/2014/main" id="{DB432C2F-72C4-3DD1-578B-707CAFE2D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049" y="3881920"/>
                <a:ext cx="959689" cy="215444"/>
              </a:xfrm>
              <a:prstGeom prst="rect">
                <a:avLst/>
              </a:prstGeom>
              <a:blipFill>
                <a:blip r:embed="rId3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2" name="TextBox 3111">
            <a:extLst>
              <a:ext uri="{FF2B5EF4-FFF2-40B4-BE49-F238E27FC236}">
                <a16:creationId xmlns:a16="http://schemas.microsoft.com/office/drawing/2014/main" id="{107AB3BC-FD55-286A-4C99-180C361E8E02}"/>
              </a:ext>
            </a:extLst>
          </p:cNvPr>
          <p:cNvSpPr txBox="1"/>
          <p:nvPr/>
        </p:nvSpPr>
        <p:spPr>
          <a:xfrm>
            <a:off x="1826749" y="383297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4" name="TextBox 3113">
                <a:extLst>
                  <a:ext uri="{FF2B5EF4-FFF2-40B4-BE49-F238E27FC236}">
                    <a16:creationId xmlns:a16="http://schemas.microsoft.com/office/drawing/2014/main" id="{F38EA29E-95B6-FFBE-83C5-C8EC6C438010}"/>
                  </a:ext>
                </a:extLst>
              </p:cNvPr>
              <p:cNvSpPr txBox="1"/>
              <p:nvPr/>
            </p:nvSpPr>
            <p:spPr>
              <a:xfrm>
                <a:off x="1991127" y="3858267"/>
                <a:ext cx="19559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BOLD signal at parcel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2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114" name="TextBox 3113">
                <a:extLst>
                  <a:ext uri="{FF2B5EF4-FFF2-40B4-BE49-F238E27FC236}">
                    <a16:creationId xmlns:a16="http://schemas.microsoft.com/office/drawing/2014/main" id="{F38EA29E-95B6-FFBE-83C5-C8EC6C438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127" y="3858267"/>
                <a:ext cx="1955916" cy="276999"/>
              </a:xfrm>
              <a:prstGeom prst="rect">
                <a:avLst/>
              </a:prstGeom>
              <a:blipFill>
                <a:blip r:embed="rId3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19" name="Graphic 3118" descr="Table outline">
            <a:extLst>
              <a:ext uri="{FF2B5EF4-FFF2-40B4-BE49-F238E27FC236}">
                <a16:creationId xmlns:a16="http://schemas.microsoft.com/office/drawing/2014/main" id="{90E17BB5-40E3-75F2-7EF8-B35791DC4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46996" y="5665260"/>
            <a:ext cx="1802658" cy="1802658"/>
          </a:xfrm>
          <a:prstGeom prst="rect">
            <a:avLst/>
          </a:prstGeom>
        </p:spPr>
      </p:pic>
      <p:pic>
        <p:nvPicPr>
          <p:cNvPr id="3120" name="Graphic 3119" descr="Table outline">
            <a:extLst>
              <a:ext uri="{FF2B5EF4-FFF2-40B4-BE49-F238E27FC236}">
                <a16:creationId xmlns:a16="http://schemas.microsoft.com/office/drawing/2014/main" id="{D2E2DCEB-B566-53F8-8F80-5BC0CDDBF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257300" y="5665260"/>
            <a:ext cx="1802658" cy="1802658"/>
          </a:xfrm>
          <a:prstGeom prst="rect">
            <a:avLst/>
          </a:prstGeom>
        </p:spPr>
      </p:pic>
      <p:pic>
        <p:nvPicPr>
          <p:cNvPr id="3126" name="Graphic 3125" descr="Table outline">
            <a:extLst>
              <a:ext uri="{FF2B5EF4-FFF2-40B4-BE49-F238E27FC236}">
                <a16:creationId xmlns:a16="http://schemas.microsoft.com/office/drawing/2014/main" id="{5E4E37FD-DC50-2335-7CDE-ADF3620DD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44090" y="6269329"/>
            <a:ext cx="1802658" cy="1802658"/>
          </a:xfrm>
          <a:prstGeom prst="rect">
            <a:avLst/>
          </a:prstGeom>
        </p:spPr>
      </p:pic>
      <p:pic>
        <p:nvPicPr>
          <p:cNvPr id="3127" name="Graphic 3126" descr="Table outline">
            <a:extLst>
              <a:ext uri="{FF2B5EF4-FFF2-40B4-BE49-F238E27FC236}">
                <a16:creationId xmlns:a16="http://schemas.microsoft.com/office/drawing/2014/main" id="{0DDEE53E-D068-DD68-360E-62C0CDDB3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254394" y="6269329"/>
            <a:ext cx="1802658" cy="1802658"/>
          </a:xfrm>
          <a:prstGeom prst="rect">
            <a:avLst/>
          </a:prstGeom>
        </p:spPr>
      </p:pic>
      <p:pic>
        <p:nvPicPr>
          <p:cNvPr id="3140" name="Graphic 3139" descr="Table outline">
            <a:extLst>
              <a:ext uri="{FF2B5EF4-FFF2-40B4-BE49-F238E27FC236}">
                <a16:creationId xmlns:a16="http://schemas.microsoft.com/office/drawing/2014/main" id="{1B726C47-E695-133B-F16C-49451FE9E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47807" y="5631222"/>
            <a:ext cx="1802658" cy="1802658"/>
          </a:xfrm>
          <a:prstGeom prst="rect">
            <a:avLst/>
          </a:prstGeom>
        </p:spPr>
      </p:pic>
      <p:pic>
        <p:nvPicPr>
          <p:cNvPr id="3141" name="Graphic 3140" descr="Table outline">
            <a:extLst>
              <a:ext uri="{FF2B5EF4-FFF2-40B4-BE49-F238E27FC236}">
                <a16:creationId xmlns:a16="http://schemas.microsoft.com/office/drawing/2014/main" id="{4470048C-DF9A-D503-8EB4-ACA44A8AAA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258111" y="5631222"/>
            <a:ext cx="1802658" cy="1802658"/>
          </a:xfrm>
          <a:prstGeom prst="rect">
            <a:avLst/>
          </a:prstGeom>
        </p:spPr>
      </p:pic>
      <p:pic>
        <p:nvPicPr>
          <p:cNvPr id="3142" name="Graphic 3141" descr="Table outline">
            <a:extLst>
              <a:ext uri="{FF2B5EF4-FFF2-40B4-BE49-F238E27FC236}">
                <a16:creationId xmlns:a16="http://schemas.microsoft.com/office/drawing/2014/main" id="{DC5C2A4D-E8C8-5E1A-ABD3-DC4C76784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47958" y="6263294"/>
            <a:ext cx="1802658" cy="1802658"/>
          </a:xfrm>
          <a:prstGeom prst="rect">
            <a:avLst/>
          </a:prstGeom>
        </p:spPr>
      </p:pic>
      <p:pic>
        <p:nvPicPr>
          <p:cNvPr id="3143" name="Graphic 3142" descr="Table outline">
            <a:extLst>
              <a:ext uri="{FF2B5EF4-FFF2-40B4-BE49-F238E27FC236}">
                <a16:creationId xmlns:a16="http://schemas.microsoft.com/office/drawing/2014/main" id="{C074FD9A-8241-D5A0-2AD6-6FB897337D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258262" y="6263294"/>
            <a:ext cx="1802658" cy="1802658"/>
          </a:xfrm>
          <a:prstGeom prst="rect">
            <a:avLst/>
          </a:prstGeom>
        </p:spPr>
      </p:pic>
      <p:pic>
        <p:nvPicPr>
          <p:cNvPr id="3148" name="Graphic 3147" descr="Table outline">
            <a:extLst>
              <a:ext uri="{FF2B5EF4-FFF2-40B4-BE49-F238E27FC236}">
                <a16:creationId xmlns:a16="http://schemas.microsoft.com/office/drawing/2014/main" id="{15E74CAF-A7B5-D348-708C-547FA5AAA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05647" y="5645088"/>
            <a:ext cx="1802658" cy="1802658"/>
          </a:xfrm>
          <a:prstGeom prst="rect">
            <a:avLst/>
          </a:prstGeom>
        </p:spPr>
      </p:pic>
      <p:pic>
        <p:nvPicPr>
          <p:cNvPr id="3149" name="Graphic 3148" descr="Table outline">
            <a:extLst>
              <a:ext uri="{FF2B5EF4-FFF2-40B4-BE49-F238E27FC236}">
                <a16:creationId xmlns:a16="http://schemas.microsoft.com/office/drawing/2014/main" id="{2FC1D67B-725A-AE9B-CEEC-762F81B35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115951" y="5645088"/>
            <a:ext cx="1802658" cy="1802658"/>
          </a:xfrm>
          <a:prstGeom prst="rect">
            <a:avLst/>
          </a:prstGeom>
        </p:spPr>
      </p:pic>
      <p:pic>
        <p:nvPicPr>
          <p:cNvPr id="3150" name="Graphic 3149" descr="Table outline">
            <a:extLst>
              <a:ext uri="{FF2B5EF4-FFF2-40B4-BE49-F238E27FC236}">
                <a16:creationId xmlns:a16="http://schemas.microsoft.com/office/drawing/2014/main" id="{8EA5755C-E6DC-E176-F404-5DD804F39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04266" y="6263255"/>
            <a:ext cx="1802658" cy="1802658"/>
          </a:xfrm>
          <a:prstGeom prst="rect">
            <a:avLst/>
          </a:prstGeom>
        </p:spPr>
      </p:pic>
      <p:pic>
        <p:nvPicPr>
          <p:cNvPr id="3151" name="Graphic 3150" descr="Table outline">
            <a:extLst>
              <a:ext uri="{FF2B5EF4-FFF2-40B4-BE49-F238E27FC236}">
                <a16:creationId xmlns:a16="http://schemas.microsoft.com/office/drawing/2014/main" id="{B73CD18A-C6B7-5462-6872-BD1B5ADCC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114570" y="6263255"/>
            <a:ext cx="1802658" cy="18026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52" name="TextBox 3151">
                <a:extLst>
                  <a:ext uri="{FF2B5EF4-FFF2-40B4-BE49-F238E27FC236}">
                    <a16:creationId xmlns:a16="http://schemas.microsoft.com/office/drawing/2014/main" id="{8FB27FBC-83F6-18D2-757B-33CA873D7313}"/>
                  </a:ext>
                </a:extLst>
              </p:cNvPr>
              <p:cNvSpPr txBox="1"/>
              <p:nvPr/>
            </p:nvSpPr>
            <p:spPr>
              <a:xfrm>
                <a:off x="2981382" y="5813058"/>
                <a:ext cx="3524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3152" name="TextBox 3151">
                <a:extLst>
                  <a:ext uri="{FF2B5EF4-FFF2-40B4-BE49-F238E27FC236}">
                    <a16:creationId xmlns:a16="http://schemas.microsoft.com/office/drawing/2014/main" id="{8FB27FBC-83F6-18D2-757B-33CA873D7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382" y="5813058"/>
                <a:ext cx="352425" cy="30777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4" name="TextBox 3153">
            <a:extLst>
              <a:ext uri="{FF2B5EF4-FFF2-40B4-BE49-F238E27FC236}">
                <a16:creationId xmlns:a16="http://schemas.microsoft.com/office/drawing/2014/main" id="{730A1BE9-735C-566A-3EE3-497F9BD3AFE1}"/>
              </a:ext>
            </a:extLst>
          </p:cNvPr>
          <p:cNvSpPr txBox="1"/>
          <p:nvPr/>
        </p:nvSpPr>
        <p:spPr>
          <a:xfrm>
            <a:off x="2015870" y="5639537"/>
            <a:ext cx="158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Node time series</a:t>
            </a:r>
          </a:p>
        </p:txBody>
      </p:sp>
      <p:sp>
        <p:nvSpPr>
          <p:cNvPr id="3155" name="TextBox 3154">
            <a:extLst>
              <a:ext uri="{FF2B5EF4-FFF2-40B4-BE49-F238E27FC236}">
                <a16:creationId xmlns:a16="http://schemas.microsoft.com/office/drawing/2014/main" id="{76DB324F-F56D-2F32-F901-1948976F2028}"/>
              </a:ext>
            </a:extLst>
          </p:cNvPr>
          <p:cNvSpPr txBox="1"/>
          <p:nvPr/>
        </p:nvSpPr>
        <p:spPr>
          <a:xfrm>
            <a:off x="6014915" y="5639537"/>
            <a:ext cx="1612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Edge time series</a:t>
            </a:r>
          </a:p>
        </p:txBody>
      </p:sp>
      <p:sp>
        <p:nvSpPr>
          <p:cNvPr id="3156" name="TextBox 3155">
            <a:extLst>
              <a:ext uri="{FF2B5EF4-FFF2-40B4-BE49-F238E27FC236}">
                <a16:creationId xmlns:a16="http://schemas.microsoft.com/office/drawing/2014/main" id="{4C39B045-4F23-DDC1-B43A-55CFACDD975E}"/>
              </a:ext>
            </a:extLst>
          </p:cNvPr>
          <p:cNvSpPr txBox="1"/>
          <p:nvPr/>
        </p:nvSpPr>
        <p:spPr>
          <a:xfrm>
            <a:off x="9717878" y="5639537"/>
            <a:ext cx="1719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Triangle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57" name="TextBox 3156">
                <a:extLst>
                  <a:ext uri="{FF2B5EF4-FFF2-40B4-BE49-F238E27FC236}">
                    <a16:creationId xmlns:a16="http://schemas.microsoft.com/office/drawing/2014/main" id="{F8811D19-219F-A3EB-DC22-40448787F80F}"/>
                  </a:ext>
                </a:extLst>
              </p:cNvPr>
              <p:cNvSpPr txBox="1"/>
              <p:nvPr/>
            </p:nvSpPr>
            <p:spPr>
              <a:xfrm>
                <a:off x="10780811" y="5813057"/>
                <a:ext cx="4663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1400" b="1" i="1" dirty="0"/>
              </a:p>
            </p:txBody>
          </p:sp>
        </mc:Choice>
        <mc:Fallback xmlns="">
          <p:sp>
            <p:nvSpPr>
              <p:cNvPr id="3157" name="TextBox 3156">
                <a:extLst>
                  <a:ext uri="{FF2B5EF4-FFF2-40B4-BE49-F238E27FC236}">
                    <a16:creationId xmlns:a16="http://schemas.microsoft.com/office/drawing/2014/main" id="{F8811D19-219F-A3EB-DC22-40448787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811" y="5813057"/>
                <a:ext cx="466377" cy="307777"/>
              </a:xfrm>
              <a:prstGeom prst="rect">
                <a:avLst/>
              </a:prstGeom>
              <a:blipFill>
                <a:blip r:embed="rId39"/>
                <a:stretch>
                  <a:fillRect r="-1081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8" name="Rounded Rectangle 3157">
            <a:extLst>
              <a:ext uri="{FF2B5EF4-FFF2-40B4-BE49-F238E27FC236}">
                <a16:creationId xmlns:a16="http://schemas.microsoft.com/office/drawing/2014/main" id="{D4F026E4-072A-5C73-BA3A-79E45926997E}"/>
              </a:ext>
            </a:extLst>
          </p:cNvPr>
          <p:cNvSpPr/>
          <p:nvPr/>
        </p:nvSpPr>
        <p:spPr>
          <a:xfrm>
            <a:off x="2955987" y="6112442"/>
            <a:ext cx="432551" cy="1514125"/>
          </a:xfrm>
          <a:prstGeom prst="roundRect">
            <a:avLst/>
          </a:prstGeom>
          <a:solidFill>
            <a:srgbClr val="002060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9" name="Rounded Rectangle 3158">
            <a:extLst>
              <a:ext uri="{FF2B5EF4-FFF2-40B4-BE49-F238E27FC236}">
                <a16:creationId xmlns:a16="http://schemas.microsoft.com/office/drawing/2014/main" id="{582BFDD9-A3EF-E9DE-0AAA-F4769EB22DE8}"/>
              </a:ext>
            </a:extLst>
          </p:cNvPr>
          <p:cNvSpPr/>
          <p:nvPr/>
        </p:nvSpPr>
        <p:spPr>
          <a:xfrm>
            <a:off x="6951372" y="6071399"/>
            <a:ext cx="432551" cy="1537596"/>
          </a:xfrm>
          <a:prstGeom prst="roundRect">
            <a:avLst/>
          </a:prstGeom>
          <a:solidFill>
            <a:srgbClr val="002060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60" name="Rounded Rectangle 3159">
            <a:extLst>
              <a:ext uri="{FF2B5EF4-FFF2-40B4-BE49-F238E27FC236}">
                <a16:creationId xmlns:a16="http://schemas.microsoft.com/office/drawing/2014/main" id="{73F6A929-8C09-30FF-D381-C52EAC1A15D2}"/>
              </a:ext>
            </a:extLst>
          </p:cNvPr>
          <p:cNvSpPr/>
          <p:nvPr/>
        </p:nvSpPr>
        <p:spPr>
          <a:xfrm>
            <a:off x="10814638" y="6087661"/>
            <a:ext cx="432551" cy="1517719"/>
          </a:xfrm>
          <a:prstGeom prst="roundRect">
            <a:avLst/>
          </a:prstGeom>
          <a:solidFill>
            <a:srgbClr val="002060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65" name="Curved Connector 3164">
            <a:extLst>
              <a:ext uri="{FF2B5EF4-FFF2-40B4-BE49-F238E27FC236}">
                <a16:creationId xmlns:a16="http://schemas.microsoft.com/office/drawing/2014/main" id="{711ACC73-D761-5562-10E5-D9BFE91C74B2}"/>
              </a:ext>
            </a:extLst>
          </p:cNvPr>
          <p:cNvCxnSpPr>
            <a:cxnSpLocks/>
            <a:endCxn id="3152" idx="3"/>
          </p:cNvCxnSpPr>
          <p:nvPr/>
        </p:nvCxnSpPr>
        <p:spPr>
          <a:xfrm rot="16200000" flipH="1">
            <a:off x="2292651" y="4925791"/>
            <a:ext cx="1320718" cy="761584"/>
          </a:xfrm>
          <a:prstGeom prst="curvedConnector4">
            <a:avLst>
              <a:gd name="adj1" fmla="val 44174"/>
              <a:gd name="adj2" fmla="val 1300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6" name="Curved Connector 3165">
            <a:extLst>
              <a:ext uri="{FF2B5EF4-FFF2-40B4-BE49-F238E27FC236}">
                <a16:creationId xmlns:a16="http://schemas.microsoft.com/office/drawing/2014/main" id="{BE859192-C861-4ECA-5C05-CDD930D60E7D}"/>
              </a:ext>
            </a:extLst>
          </p:cNvPr>
          <p:cNvCxnSpPr>
            <a:cxnSpLocks/>
            <a:endCxn id="3278" idx="3"/>
          </p:cNvCxnSpPr>
          <p:nvPr/>
        </p:nvCxnSpPr>
        <p:spPr>
          <a:xfrm rot="16200000" flipH="1">
            <a:off x="6259643" y="4868078"/>
            <a:ext cx="1351347" cy="807023"/>
          </a:xfrm>
          <a:prstGeom prst="curvedConnector4">
            <a:avLst>
              <a:gd name="adj1" fmla="val 44306"/>
              <a:gd name="adj2" fmla="val 1283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8" name="Curved Connector 3167">
            <a:extLst>
              <a:ext uri="{FF2B5EF4-FFF2-40B4-BE49-F238E27FC236}">
                <a16:creationId xmlns:a16="http://schemas.microsoft.com/office/drawing/2014/main" id="{E2E5F064-AF8E-6419-8809-67EA3536B755}"/>
              </a:ext>
            </a:extLst>
          </p:cNvPr>
          <p:cNvCxnSpPr>
            <a:cxnSpLocks/>
            <a:endCxn id="3157" idx="3"/>
          </p:cNvCxnSpPr>
          <p:nvPr/>
        </p:nvCxnSpPr>
        <p:spPr>
          <a:xfrm rot="16200000" flipH="1">
            <a:off x="10152629" y="4872387"/>
            <a:ext cx="1355158" cy="833950"/>
          </a:xfrm>
          <a:prstGeom prst="curvedConnector4">
            <a:avLst>
              <a:gd name="adj1" fmla="val 44322"/>
              <a:gd name="adj2" fmla="val 1274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0" name="TextBox 3169">
            <a:extLst>
              <a:ext uri="{FF2B5EF4-FFF2-40B4-BE49-F238E27FC236}">
                <a16:creationId xmlns:a16="http://schemas.microsoft.com/office/drawing/2014/main" id="{B0C165D3-61DC-5F5E-C4D6-A124B7D16A55}"/>
              </a:ext>
            </a:extLst>
          </p:cNvPr>
          <p:cNvSpPr txBox="1"/>
          <p:nvPr/>
        </p:nvSpPr>
        <p:spPr>
          <a:xfrm rot="16200000">
            <a:off x="106527" y="6331995"/>
            <a:ext cx="231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Time Frames (TRs)</a:t>
            </a:r>
          </a:p>
        </p:txBody>
      </p:sp>
      <p:sp>
        <p:nvSpPr>
          <p:cNvPr id="3172" name="TextBox 3171">
            <a:extLst>
              <a:ext uri="{FF2B5EF4-FFF2-40B4-BE49-F238E27FC236}">
                <a16:creationId xmlns:a16="http://schemas.microsoft.com/office/drawing/2014/main" id="{3D0050AB-F7CD-DFFD-C0D4-5892340D93A4}"/>
              </a:ext>
            </a:extLst>
          </p:cNvPr>
          <p:cNvSpPr txBox="1"/>
          <p:nvPr/>
        </p:nvSpPr>
        <p:spPr>
          <a:xfrm rot="16200000">
            <a:off x="7913022" y="6275019"/>
            <a:ext cx="2353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Time Frames (TRs)</a:t>
            </a:r>
          </a:p>
        </p:txBody>
      </p:sp>
      <p:cxnSp>
        <p:nvCxnSpPr>
          <p:cNvPr id="3173" name="Straight Arrow Connector 3172">
            <a:extLst>
              <a:ext uri="{FF2B5EF4-FFF2-40B4-BE49-F238E27FC236}">
                <a16:creationId xmlns:a16="http://schemas.microsoft.com/office/drawing/2014/main" id="{D292F58B-25A3-AEDB-4ED7-DFA9A722C218}"/>
              </a:ext>
            </a:extLst>
          </p:cNvPr>
          <p:cNvCxnSpPr>
            <a:cxnSpLocks/>
          </p:cNvCxnSpPr>
          <p:nvPr/>
        </p:nvCxnSpPr>
        <p:spPr>
          <a:xfrm>
            <a:off x="1461875" y="6159576"/>
            <a:ext cx="0" cy="14973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5" name="Straight Arrow Connector 3174">
            <a:extLst>
              <a:ext uri="{FF2B5EF4-FFF2-40B4-BE49-F238E27FC236}">
                <a16:creationId xmlns:a16="http://schemas.microsoft.com/office/drawing/2014/main" id="{547C9428-335A-11D5-8D60-A3C9DDA64892}"/>
              </a:ext>
            </a:extLst>
          </p:cNvPr>
          <p:cNvCxnSpPr>
            <a:cxnSpLocks/>
          </p:cNvCxnSpPr>
          <p:nvPr/>
        </p:nvCxnSpPr>
        <p:spPr>
          <a:xfrm>
            <a:off x="5449242" y="6105532"/>
            <a:ext cx="0" cy="14973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6" name="Straight Arrow Connector 3175">
            <a:extLst>
              <a:ext uri="{FF2B5EF4-FFF2-40B4-BE49-F238E27FC236}">
                <a16:creationId xmlns:a16="http://schemas.microsoft.com/office/drawing/2014/main" id="{F6E439C3-510D-86C7-8F51-BE8C707F72A3}"/>
              </a:ext>
            </a:extLst>
          </p:cNvPr>
          <p:cNvCxnSpPr>
            <a:cxnSpLocks/>
          </p:cNvCxnSpPr>
          <p:nvPr/>
        </p:nvCxnSpPr>
        <p:spPr>
          <a:xfrm>
            <a:off x="9276415" y="6108035"/>
            <a:ext cx="0" cy="14973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3" name="TextBox 3242">
            <a:extLst>
              <a:ext uri="{FF2B5EF4-FFF2-40B4-BE49-F238E27FC236}">
                <a16:creationId xmlns:a16="http://schemas.microsoft.com/office/drawing/2014/main" id="{40BF785E-F1D1-0A9A-6933-9725FCB0260D}"/>
              </a:ext>
            </a:extLst>
          </p:cNvPr>
          <p:cNvSpPr txBox="1"/>
          <p:nvPr/>
        </p:nvSpPr>
        <p:spPr>
          <a:xfrm>
            <a:off x="942814" y="4287882"/>
            <a:ext cx="2070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</a:t>
            </a:r>
          </a:p>
        </p:txBody>
      </p:sp>
      <p:sp>
        <p:nvSpPr>
          <p:cNvPr id="3244" name="TextBox 3243">
            <a:extLst>
              <a:ext uri="{FF2B5EF4-FFF2-40B4-BE49-F238E27FC236}">
                <a16:creationId xmlns:a16="http://schemas.microsoft.com/office/drawing/2014/main" id="{243879F9-A980-9B4B-3575-81402889B5D4}"/>
              </a:ext>
            </a:extLst>
          </p:cNvPr>
          <p:cNvSpPr txBox="1"/>
          <p:nvPr/>
        </p:nvSpPr>
        <p:spPr>
          <a:xfrm>
            <a:off x="941538" y="3571157"/>
            <a:ext cx="2070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</a:t>
            </a:r>
          </a:p>
        </p:txBody>
      </p:sp>
      <p:sp>
        <p:nvSpPr>
          <p:cNvPr id="3245" name="TextBox 3244">
            <a:extLst>
              <a:ext uri="{FF2B5EF4-FFF2-40B4-BE49-F238E27FC236}">
                <a16:creationId xmlns:a16="http://schemas.microsoft.com/office/drawing/2014/main" id="{FB4BFC3B-7881-9301-F8DE-75BAF9C87CE2}"/>
              </a:ext>
            </a:extLst>
          </p:cNvPr>
          <p:cNvSpPr txBox="1"/>
          <p:nvPr/>
        </p:nvSpPr>
        <p:spPr>
          <a:xfrm>
            <a:off x="880665" y="4979931"/>
            <a:ext cx="330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-2</a:t>
            </a:r>
          </a:p>
        </p:txBody>
      </p:sp>
      <p:sp>
        <p:nvSpPr>
          <p:cNvPr id="3246" name="TextBox 3245">
            <a:extLst>
              <a:ext uri="{FF2B5EF4-FFF2-40B4-BE49-F238E27FC236}">
                <a16:creationId xmlns:a16="http://schemas.microsoft.com/office/drawing/2014/main" id="{DCDE30F8-E494-6500-C3F0-95B8393F2D1D}"/>
              </a:ext>
            </a:extLst>
          </p:cNvPr>
          <p:cNvSpPr txBox="1"/>
          <p:nvPr/>
        </p:nvSpPr>
        <p:spPr>
          <a:xfrm>
            <a:off x="2419841" y="5153387"/>
            <a:ext cx="44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10</a:t>
            </a:r>
          </a:p>
        </p:txBody>
      </p:sp>
      <p:sp>
        <p:nvSpPr>
          <p:cNvPr id="3247" name="TextBox 3246">
            <a:extLst>
              <a:ext uri="{FF2B5EF4-FFF2-40B4-BE49-F238E27FC236}">
                <a16:creationId xmlns:a16="http://schemas.microsoft.com/office/drawing/2014/main" id="{78FDF73D-D0B5-B717-4283-5B56B50B7991}"/>
              </a:ext>
            </a:extLst>
          </p:cNvPr>
          <p:cNvSpPr txBox="1"/>
          <p:nvPr/>
        </p:nvSpPr>
        <p:spPr>
          <a:xfrm>
            <a:off x="1086168" y="5143109"/>
            <a:ext cx="4417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</a:t>
            </a:r>
          </a:p>
        </p:txBody>
      </p:sp>
      <p:sp>
        <p:nvSpPr>
          <p:cNvPr id="3248" name="TextBox 3247">
            <a:extLst>
              <a:ext uri="{FF2B5EF4-FFF2-40B4-BE49-F238E27FC236}">
                <a16:creationId xmlns:a16="http://schemas.microsoft.com/office/drawing/2014/main" id="{EC02C112-398F-FA4A-732E-0728CA6B2DE9}"/>
              </a:ext>
            </a:extLst>
          </p:cNvPr>
          <p:cNvSpPr txBox="1"/>
          <p:nvPr/>
        </p:nvSpPr>
        <p:spPr>
          <a:xfrm>
            <a:off x="2288971" y="5299286"/>
            <a:ext cx="1259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Time (s)</a:t>
            </a:r>
          </a:p>
        </p:txBody>
      </p:sp>
      <p:sp>
        <p:nvSpPr>
          <p:cNvPr id="3249" name="TextBox 3248">
            <a:extLst>
              <a:ext uri="{FF2B5EF4-FFF2-40B4-BE49-F238E27FC236}">
                <a16:creationId xmlns:a16="http://schemas.microsoft.com/office/drawing/2014/main" id="{855021FE-5C52-DEFF-DA4C-5A6EAB5D9B2C}"/>
              </a:ext>
            </a:extLst>
          </p:cNvPr>
          <p:cNvSpPr txBox="1"/>
          <p:nvPr/>
        </p:nvSpPr>
        <p:spPr>
          <a:xfrm>
            <a:off x="3732978" y="5152755"/>
            <a:ext cx="4417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20</a:t>
            </a:r>
          </a:p>
        </p:txBody>
      </p:sp>
      <p:sp>
        <p:nvSpPr>
          <p:cNvPr id="3250" name="TextBox 3249">
            <a:extLst>
              <a:ext uri="{FF2B5EF4-FFF2-40B4-BE49-F238E27FC236}">
                <a16:creationId xmlns:a16="http://schemas.microsoft.com/office/drawing/2014/main" id="{9C5FAE5B-251B-84BD-63B4-7BE1886D0B55}"/>
              </a:ext>
            </a:extLst>
          </p:cNvPr>
          <p:cNvSpPr txBox="1"/>
          <p:nvPr/>
        </p:nvSpPr>
        <p:spPr>
          <a:xfrm>
            <a:off x="5050106" y="4239650"/>
            <a:ext cx="2070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</a:t>
            </a:r>
          </a:p>
        </p:txBody>
      </p:sp>
      <p:sp>
        <p:nvSpPr>
          <p:cNvPr id="3251" name="TextBox 3250">
            <a:extLst>
              <a:ext uri="{FF2B5EF4-FFF2-40B4-BE49-F238E27FC236}">
                <a16:creationId xmlns:a16="http://schemas.microsoft.com/office/drawing/2014/main" id="{F8B7564A-60A0-CD6E-8D8A-2A7AAC572DE0}"/>
              </a:ext>
            </a:extLst>
          </p:cNvPr>
          <p:cNvSpPr txBox="1"/>
          <p:nvPr/>
        </p:nvSpPr>
        <p:spPr>
          <a:xfrm>
            <a:off x="5050106" y="3547624"/>
            <a:ext cx="2070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</a:t>
            </a:r>
          </a:p>
        </p:txBody>
      </p:sp>
      <p:sp>
        <p:nvSpPr>
          <p:cNvPr id="3253" name="TextBox 3252">
            <a:extLst>
              <a:ext uri="{FF2B5EF4-FFF2-40B4-BE49-F238E27FC236}">
                <a16:creationId xmlns:a16="http://schemas.microsoft.com/office/drawing/2014/main" id="{726E3610-ADFD-92D6-9FB7-CE4657890858}"/>
              </a:ext>
            </a:extLst>
          </p:cNvPr>
          <p:cNvSpPr txBox="1"/>
          <p:nvPr/>
        </p:nvSpPr>
        <p:spPr>
          <a:xfrm>
            <a:off x="4990904" y="4949507"/>
            <a:ext cx="330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-2</a:t>
            </a:r>
          </a:p>
        </p:txBody>
      </p:sp>
      <p:sp>
        <p:nvSpPr>
          <p:cNvPr id="3254" name="TextBox 3253">
            <a:extLst>
              <a:ext uri="{FF2B5EF4-FFF2-40B4-BE49-F238E27FC236}">
                <a16:creationId xmlns:a16="http://schemas.microsoft.com/office/drawing/2014/main" id="{A31991C9-C2BA-E3E5-8BDD-38A8C7A02E5B}"/>
              </a:ext>
            </a:extLst>
          </p:cNvPr>
          <p:cNvSpPr txBox="1"/>
          <p:nvPr/>
        </p:nvSpPr>
        <p:spPr>
          <a:xfrm>
            <a:off x="5165756" y="5101655"/>
            <a:ext cx="44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</a:t>
            </a:r>
          </a:p>
        </p:txBody>
      </p:sp>
      <p:sp>
        <p:nvSpPr>
          <p:cNvPr id="3255" name="TextBox 3254">
            <a:extLst>
              <a:ext uri="{FF2B5EF4-FFF2-40B4-BE49-F238E27FC236}">
                <a16:creationId xmlns:a16="http://schemas.microsoft.com/office/drawing/2014/main" id="{2DE12022-0D56-A4A8-4ECF-7D23405A56D4}"/>
              </a:ext>
            </a:extLst>
          </p:cNvPr>
          <p:cNvSpPr txBox="1"/>
          <p:nvPr/>
        </p:nvSpPr>
        <p:spPr>
          <a:xfrm>
            <a:off x="6477009" y="5098432"/>
            <a:ext cx="44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10</a:t>
            </a:r>
          </a:p>
        </p:txBody>
      </p:sp>
      <p:sp>
        <p:nvSpPr>
          <p:cNvPr id="3257" name="TextBox 3256">
            <a:extLst>
              <a:ext uri="{FF2B5EF4-FFF2-40B4-BE49-F238E27FC236}">
                <a16:creationId xmlns:a16="http://schemas.microsoft.com/office/drawing/2014/main" id="{F0B91A22-CC76-6FD8-05DB-CDDAE5E2F663}"/>
              </a:ext>
            </a:extLst>
          </p:cNvPr>
          <p:cNvSpPr txBox="1"/>
          <p:nvPr/>
        </p:nvSpPr>
        <p:spPr>
          <a:xfrm>
            <a:off x="7814439" y="5114122"/>
            <a:ext cx="44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20</a:t>
            </a:r>
          </a:p>
        </p:txBody>
      </p:sp>
      <p:sp>
        <p:nvSpPr>
          <p:cNvPr id="3260" name="TextBox 3259">
            <a:extLst>
              <a:ext uri="{FF2B5EF4-FFF2-40B4-BE49-F238E27FC236}">
                <a16:creationId xmlns:a16="http://schemas.microsoft.com/office/drawing/2014/main" id="{C207D642-5012-A82D-EEF5-2FD780447798}"/>
              </a:ext>
            </a:extLst>
          </p:cNvPr>
          <p:cNvSpPr txBox="1"/>
          <p:nvPr/>
        </p:nvSpPr>
        <p:spPr>
          <a:xfrm flipH="1">
            <a:off x="8782203" y="4984804"/>
            <a:ext cx="1333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-2</a:t>
            </a:r>
          </a:p>
        </p:txBody>
      </p:sp>
      <p:sp>
        <p:nvSpPr>
          <p:cNvPr id="3261" name="TextBox 3260">
            <a:extLst>
              <a:ext uri="{FF2B5EF4-FFF2-40B4-BE49-F238E27FC236}">
                <a16:creationId xmlns:a16="http://schemas.microsoft.com/office/drawing/2014/main" id="{669E989C-FD49-37D6-3F97-DC22D0A093BA}"/>
              </a:ext>
            </a:extLst>
          </p:cNvPr>
          <p:cNvSpPr txBox="1"/>
          <p:nvPr/>
        </p:nvSpPr>
        <p:spPr>
          <a:xfrm>
            <a:off x="8980616" y="5138857"/>
            <a:ext cx="44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</a:t>
            </a:r>
          </a:p>
        </p:txBody>
      </p:sp>
      <p:sp>
        <p:nvSpPr>
          <p:cNvPr id="3262" name="TextBox 3261">
            <a:extLst>
              <a:ext uri="{FF2B5EF4-FFF2-40B4-BE49-F238E27FC236}">
                <a16:creationId xmlns:a16="http://schemas.microsoft.com/office/drawing/2014/main" id="{3F380D47-1485-8666-3FD7-94AEF2B5F1C2}"/>
              </a:ext>
            </a:extLst>
          </p:cNvPr>
          <p:cNvSpPr txBox="1"/>
          <p:nvPr/>
        </p:nvSpPr>
        <p:spPr>
          <a:xfrm>
            <a:off x="10346946" y="5140415"/>
            <a:ext cx="44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10</a:t>
            </a:r>
          </a:p>
        </p:txBody>
      </p:sp>
      <p:sp>
        <p:nvSpPr>
          <p:cNvPr id="3263" name="TextBox 3262">
            <a:extLst>
              <a:ext uri="{FF2B5EF4-FFF2-40B4-BE49-F238E27FC236}">
                <a16:creationId xmlns:a16="http://schemas.microsoft.com/office/drawing/2014/main" id="{80CDE0E4-BDBC-6CC9-AAF0-C9400A55467F}"/>
              </a:ext>
            </a:extLst>
          </p:cNvPr>
          <p:cNvSpPr txBox="1"/>
          <p:nvPr/>
        </p:nvSpPr>
        <p:spPr>
          <a:xfrm>
            <a:off x="10245263" y="5275428"/>
            <a:ext cx="1259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Time (s)</a:t>
            </a:r>
          </a:p>
        </p:txBody>
      </p:sp>
      <p:sp>
        <p:nvSpPr>
          <p:cNvPr id="3264" name="TextBox 3263">
            <a:extLst>
              <a:ext uri="{FF2B5EF4-FFF2-40B4-BE49-F238E27FC236}">
                <a16:creationId xmlns:a16="http://schemas.microsoft.com/office/drawing/2014/main" id="{C6B8D3F7-2462-10FB-C5DD-4CFF25D133B9}"/>
              </a:ext>
            </a:extLst>
          </p:cNvPr>
          <p:cNvSpPr txBox="1"/>
          <p:nvPr/>
        </p:nvSpPr>
        <p:spPr>
          <a:xfrm>
            <a:off x="11602053" y="5119960"/>
            <a:ext cx="44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20</a:t>
            </a:r>
          </a:p>
        </p:txBody>
      </p:sp>
      <p:sp>
        <p:nvSpPr>
          <p:cNvPr id="3265" name="TextBox 3264">
            <a:extLst>
              <a:ext uri="{FF2B5EF4-FFF2-40B4-BE49-F238E27FC236}">
                <a16:creationId xmlns:a16="http://schemas.microsoft.com/office/drawing/2014/main" id="{1C59ED54-EB54-CA4F-C924-2AAC4FF6F9E8}"/>
              </a:ext>
            </a:extLst>
          </p:cNvPr>
          <p:cNvSpPr txBox="1"/>
          <p:nvPr/>
        </p:nvSpPr>
        <p:spPr>
          <a:xfrm rot="16200000">
            <a:off x="322097" y="4187544"/>
            <a:ext cx="1195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BOLD Signal</a:t>
            </a:r>
          </a:p>
        </p:txBody>
      </p:sp>
      <p:sp>
        <p:nvSpPr>
          <p:cNvPr id="3266" name="TextBox 3265">
            <a:extLst>
              <a:ext uri="{FF2B5EF4-FFF2-40B4-BE49-F238E27FC236}">
                <a16:creationId xmlns:a16="http://schemas.microsoft.com/office/drawing/2014/main" id="{569C5646-4EDE-A09F-B397-167D66688F7A}"/>
              </a:ext>
            </a:extLst>
          </p:cNvPr>
          <p:cNvSpPr txBox="1"/>
          <p:nvPr/>
        </p:nvSpPr>
        <p:spPr>
          <a:xfrm rot="16200000">
            <a:off x="4372877" y="4155553"/>
            <a:ext cx="1137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Cofluctuation</a:t>
            </a:r>
            <a:endParaRPr lang="en-US" sz="1100" dirty="0"/>
          </a:p>
        </p:txBody>
      </p:sp>
      <p:sp>
        <p:nvSpPr>
          <p:cNvPr id="3267" name="TextBox 3266">
            <a:extLst>
              <a:ext uri="{FF2B5EF4-FFF2-40B4-BE49-F238E27FC236}">
                <a16:creationId xmlns:a16="http://schemas.microsoft.com/office/drawing/2014/main" id="{21F8601D-4563-24AA-D3B9-598D473E5341}"/>
              </a:ext>
            </a:extLst>
          </p:cNvPr>
          <p:cNvSpPr txBox="1"/>
          <p:nvPr/>
        </p:nvSpPr>
        <p:spPr>
          <a:xfrm rot="16200000">
            <a:off x="8110463" y="4146323"/>
            <a:ext cx="1249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Helvetica" pitchFamily="2" charset="0"/>
              </a:rPr>
              <a:t>Cofluctuation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272" name="Rounded Rectangle 3271">
            <a:extLst>
              <a:ext uri="{FF2B5EF4-FFF2-40B4-BE49-F238E27FC236}">
                <a16:creationId xmlns:a16="http://schemas.microsoft.com/office/drawing/2014/main" id="{0B71251F-F922-0A14-D3D6-99677762694A}"/>
              </a:ext>
            </a:extLst>
          </p:cNvPr>
          <p:cNvSpPr/>
          <p:nvPr/>
        </p:nvSpPr>
        <p:spPr>
          <a:xfrm rot="5400000">
            <a:off x="2560278" y="5743566"/>
            <a:ext cx="285077" cy="2249973"/>
          </a:xfrm>
          <a:prstGeom prst="roundRect">
            <a:avLst/>
          </a:prstGeom>
          <a:solidFill>
            <a:schemeClr val="accent6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3" name="Rounded Rectangle 3272">
            <a:extLst>
              <a:ext uri="{FF2B5EF4-FFF2-40B4-BE49-F238E27FC236}">
                <a16:creationId xmlns:a16="http://schemas.microsoft.com/office/drawing/2014/main" id="{B6528969-90A0-B7E8-0E54-59B4B19D75C9}"/>
              </a:ext>
            </a:extLst>
          </p:cNvPr>
          <p:cNvSpPr/>
          <p:nvPr/>
        </p:nvSpPr>
        <p:spPr>
          <a:xfrm rot="5400000">
            <a:off x="6549383" y="5707602"/>
            <a:ext cx="284867" cy="2263821"/>
          </a:xfrm>
          <a:prstGeom prst="roundRect">
            <a:avLst/>
          </a:prstGeom>
          <a:solidFill>
            <a:schemeClr val="accent6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4" name="Rounded Rectangle 3273">
            <a:extLst>
              <a:ext uri="{FF2B5EF4-FFF2-40B4-BE49-F238E27FC236}">
                <a16:creationId xmlns:a16="http://schemas.microsoft.com/office/drawing/2014/main" id="{786A957C-5C8D-A767-2A0E-EAF7DC751B77}"/>
              </a:ext>
            </a:extLst>
          </p:cNvPr>
          <p:cNvSpPr/>
          <p:nvPr/>
        </p:nvSpPr>
        <p:spPr>
          <a:xfrm rot="5400000">
            <a:off x="10429279" y="5704636"/>
            <a:ext cx="279140" cy="2275532"/>
          </a:xfrm>
          <a:prstGeom prst="roundRect">
            <a:avLst/>
          </a:prstGeom>
          <a:solidFill>
            <a:schemeClr val="accent6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8" name="TextBox 3277">
                <a:extLst>
                  <a:ext uri="{FF2B5EF4-FFF2-40B4-BE49-F238E27FC236}">
                    <a16:creationId xmlns:a16="http://schemas.microsoft.com/office/drawing/2014/main" id="{D2A80479-C2FF-320D-E35E-1A0919CC94E3}"/>
                  </a:ext>
                </a:extLst>
              </p:cNvPr>
              <p:cNvSpPr txBox="1"/>
              <p:nvPr/>
            </p:nvSpPr>
            <p:spPr>
              <a:xfrm>
                <a:off x="6973997" y="5793375"/>
                <a:ext cx="364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b="1" i="1" dirty="0"/>
              </a:p>
            </p:txBody>
          </p:sp>
        </mc:Choice>
        <mc:Fallback xmlns="">
          <p:sp>
            <p:nvSpPr>
              <p:cNvPr id="3278" name="TextBox 3277">
                <a:extLst>
                  <a:ext uri="{FF2B5EF4-FFF2-40B4-BE49-F238E27FC236}">
                    <a16:creationId xmlns:a16="http://schemas.microsoft.com/office/drawing/2014/main" id="{D2A80479-C2FF-320D-E35E-1A0919CC9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997" y="5793375"/>
                <a:ext cx="364831" cy="307777"/>
              </a:xfrm>
              <a:prstGeom prst="rect">
                <a:avLst/>
              </a:prstGeom>
              <a:blipFill>
                <a:blip r:embed="rId40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6" name="TextBox 3285">
            <a:extLst>
              <a:ext uri="{FF2B5EF4-FFF2-40B4-BE49-F238E27FC236}">
                <a16:creationId xmlns:a16="http://schemas.microsoft.com/office/drawing/2014/main" id="{121C4477-992F-D193-BDEF-4A10DF46D54B}"/>
              </a:ext>
            </a:extLst>
          </p:cNvPr>
          <p:cNvSpPr txBox="1"/>
          <p:nvPr/>
        </p:nvSpPr>
        <p:spPr>
          <a:xfrm rot="16200000">
            <a:off x="-746034" y="756609"/>
            <a:ext cx="188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HCP S1200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3564214-1C3A-AD7B-8A9F-F4BA7E41DA55}"/>
              </a:ext>
            </a:extLst>
          </p:cNvPr>
          <p:cNvSpPr/>
          <p:nvPr/>
        </p:nvSpPr>
        <p:spPr>
          <a:xfrm>
            <a:off x="11090427" y="924398"/>
            <a:ext cx="958885" cy="576943"/>
          </a:xfrm>
          <a:prstGeom prst="roundRect">
            <a:avLst/>
          </a:prstGeom>
          <a:solidFill>
            <a:srgbClr val="DE74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E58DFB-8929-1715-AF67-4095065EA8E5}"/>
              </a:ext>
            </a:extLst>
          </p:cNvPr>
          <p:cNvSpPr txBox="1"/>
          <p:nvPr/>
        </p:nvSpPr>
        <p:spPr>
          <a:xfrm>
            <a:off x="11157969" y="978394"/>
            <a:ext cx="886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Working Memory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178D5F-91F0-4F20-19A2-0A37953C6552}"/>
              </a:ext>
            </a:extLst>
          </p:cNvPr>
          <p:cNvSpPr txBox="1"/>
          <p:nvPr/>
        </p:nvSpPr>
        <p:spPr>
          <a:xfrm>
            <a:off x="10343157" y="1074905"/>
            <a:ext cx="8868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Social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DD9045E-A710-68F5-DA42-051C357BE398}"/>
              </a:ext>
            </a:extLst>
          </p:cNvPr>
          <p:cNvSpPr/>
          <p:nvPr/>
        </p:nvSpPr>
        <p:spPr>
          <a:xfrm>
            <a:off x="10208904" y="923375"/>
            <a:ext cx="958885" cy="576943"/>
          </a:xfrm>
          <a:prstGeom prst="roundRect">
            <a:avLst/>
          </a:prstGeom>
          <a:solidFill>
            <a:srgbClr val="E59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Social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E69532-31A3-678B-8996-75AECFA0C222}"/>
              </a:ext>
            </a:extLst>
          </p:cNvPr>
          <p:cNvSpPr txBox="1"/>
          <p:nvPr/>
        </p:nvSpPr>
        <p:spPr>
          <a:xfrm>
            <a:off x="9312705" y="1070177"/>
            <a:ext cx="1090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Relational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275748A-E815-C610-5D8E-030B764150FF}"/>
              </a:ext>
            </a:extLst>
          </p:cNvPr>
          <p:cNvSpPr/>
          <p:nvPr/>
        </p:nvSpPr>
        <p:spPr>
          <a:xfrm>
            <a:off x="9332427" y="923510"/>
            <a:ext cx="958885" cy="576943"/>
          </a:xfrm>
          <a:prstGeom prst="roundRect">
            <a:avLst/>
          </a:prstGeom>
          <a:solidFill>
            <a:srgbClr val="609E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Relational</a:t>
            </a:r>
          </a:p>
        </p:txBody>
      </p:sp>
      <p:sp>
        <p:nvSpPr>
          <p:cNvPr id="3137" name="TextBox 3136">
            <a:extLst>
              <a:ext uri="{FF2B5EF4-FFF2-40B4-BE49-F238E27FC236}">
                <a16:creationId xmlns:a16="http://schemas.microsoft.com/office/drawing/2014/main" id="{9903F19B-423E-01EE-A415-1BEDB1AEB986}"/>
              </a:ext>
            </a:extLst>
          </p:cNvPr>
          <p:cNvSpPr txBox="1"/>
          <p:nvPr/>
        </p:nvSpPr>
        <p:spPr>
          <a:xfrm>
            <a:off x="8568784" y="1064767"/>
            <a:ext cx="1090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Motor</a:t>
            </a:r>
          </a:p>
        </p:txBody>
      </p:sp>
      <p:sp>
        <p:nvSpPr>
          <p:cNvPr id="3138" name="Rounded Rectangle 3137">
            <a:extLst>
              <a:ext uri="{FF2B5EF4-FFF2-40B4-BE49-F238E27FC236}">
                <a16:creationId xmlns:a16="http://schemas.microsoft.com/office/drawing/2014/main" id="{32A72E29-AD5B-75EA-1D2D-8195CF97AACC}"/>
              </a:ext>
            </a:extLst>
          </p:cNvPr>
          <p:cNvSpPr/>
          <p:nvPr/>
        </p:nvSpPr>
        <p:spPr>
          <a:xfrm>
            <a:off x="8439281" y="921275"/>
            <a:ext cx="958885" cy="576943"/>
          </a:xfrm>
          <a:prstGeom prst="roundRect">
            <a:avLst/>
          </a:prstGeom>
          <a:solidFill>
            <a:srgbClr val="78B6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Motor</a:t>
            </a:r>
          </a:p>
        </p:txBody>
      </p:sp>
      <p:sp>
        <p:nvSpPr>
          <p:cNvPr id="3139" name="Rounded Rectangle 3138">
            <a:extLst>
              <a:ext uri="{FF2B5EF4-FFF2-40B4-BE49-F238E27FC236}">
                <a16:creationId xmlns:a16="http://schemas.microsoft.com/office/drawing/2014/main" id="{D47A1AEF-2F59-61E0-4ADD-8530C4EE8011}"/>
              </a:ext>
            </a:extLst>
          </p:cNvPr>
          <p:cNvSpPr/>
          <p:nvPr/>
        </p:nvSpPr>
        <p:spPr>
          <a:xfrm>
            <a:off x="7557446" y="928241"/>
            <a:ext cx="958885" cy="576943"/>
          </a:xfrm>
          <a:prstGeom prst="roundRect">
            <a:avLst/>
          </a:prstGeom>
          <a:solidFill>
            <a:srgbClr val="C4D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Helvetica" pitchFamily="2" charset="0"/>
            </a:endParaRPr>
          </a:p>
        </p:txBody>
      </p:sp>
      <p:sp>
        <p:nvSpPr>
          <p:cNvPr id="3144" name="TextBox 3143">
            <a:extLst>
              <a:ext uri="{FF2B5EF4-FFF2-40B4-BE49-F238E27FC236}">
                <a16:creationId xmlns:a16="http://schemas.microsoft.com/office/drawing/2014/main" id="{4AD6A2BF-6BC8-F95C-A22D-C08C3FF2CB6C}"/>
              </a:ext>
            </a:extLst>
          </p:cNvPr>
          <p:cNvSpPr txBox="1"/>
          <p:nvPr/>
        </p:nvSpPr>
        <p:spPr>
          <a:xfrm>
            <a:off x="7546913" y="1051560"/>
            <a:ext cx="1033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 Language</a:t>
            </a:r>
          </a:p>
        </p:txBody>
      </p:sp>
      <p:sp>
        <p:nvSpPr>
          <p:cNvPr id="3145" name="TextBox 3144">
            <a:extLst>
              <a:ext uri="{FF2B5EF4-FFF2-40B4-BE49-F238E27FC236}">
                <a16:creationId xmlns:a16="http://schemas.microsoft.com/office/drawing/2014/main" id="{5EA53713-4627-B64E-C1CC-E877FC9DE022}"/>
              </a:ext>
            </a:extLst>
          </p:cNvPr>
          <p:cNvSpPr txBox="1"/>
          <p:nvPr/>
        </p:nvSpPr>
        <p:spPr>
          <a:xfrm>
            <a:off x="6662046" y="1051560"/>
            <a:ext cx="1045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Gambling</a:t>
            </a:r>
          </a:p>
        </p:txBody>
      </p:sp>
      <p:sp>
        <p:nvSpPr>
          <p:cNvPr id="3146" name="Rounded Rectangle 3145">
            <a:extLst>
              <a:ext uri="{FF2B5EF4-FFF2-40B4-BE49-F238E27FC236}">
                <a16:creationId xmlns:a16="http://schemas.microsoft.com/office/drawing/2014/main" id="{A349C3F0-4D49-15A3-3604-250130B18500}"/>
              </a:ext>
            </a:extLst>
          </p:cNvPr>
          <p:cNvSpPr/>
          <p:nvPr/>
        </p:nvSpPr>
        <p:spPr>
          <a:xfrm>
            <a:off x="6675923" y="927218"/>
            <a:ext cx="958885" cy="576943"/>
          </a:xfrm>
          <a:prstGeom prst="roundRect">
            <a:avLst/>
          </a:prstGeom>
          <a:solidFill>
            <a:srgbClr val="EE54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Gambling</a:t>
            </a:r>
          </a:p>
        </p:txBody>
      </p:sp>
      <p:sp>
        <p:nvSpPr>
          <p:cNvPr id="3147" name="TextBox 3146">
            <a:extLst>
              <a:ext uri="{FF2B5EF4-FFF2-40B4-BE49-F238E27FC236}">
                <a16:creationId xmlns:a16="http://schemas.microsoft.com/office/drawing/2014/main" id="{12E701C6-356D-F9A2-35D3-6EAFDC9867A9}"/>
              </a:ext>
            </a:extLst>
          </p:cNvPr>
          <p:cNvSpPr txBox="1"/>
          <p:nvPr/>
        </p:nvSpPr>
        <p:spPr>
          <a:xfrm>
            <a:off x="5837668" y="1051560"/>
            <a:ext cx="1090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Emotion</a:t>
            </a:r>
          </a:p>
        </p:txBody>
      </p:sp>
      <p:sp>
        <p:nvSpPr>
          <p:cNvPr id="3153" name="Rounded Rectangle 3152">
            <a:extLst>
              <a:ext uri="{FF2B5EF4-FFF2-40B4-BE49-F238E27FC236}">
                <a16:creationId xmlns:a16="http://schemas.microsoft.com/office/drawing/2014/main" id="{37B0A02B-305A-3970-64F9-DAE99C9F34CC}"/>
              </a:ext>
            </a:extLst>
          </p:cNvPr>
          <p:cNvSpPr/>
          <p:nvPr/>
        </p:nvSpPr>
        <p:spPr>
          <a:xfrm>
            <a:off x="5799446" y="927353"/>
            <a:ext cx="958885" cy="576943"/>
          </a:xfrm>
          <a:prstGeom prst="roundRect">
            <a:avLst/>
          </a:prstGeom>
          <a:solidFill>
            <a:srgbClr val="F7D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>Emotion</a:t>
            </a:r>
          </a:p>
        </p:txBody>
      </p:sp>
      <p:sp>
        <p:nvSpPr>
          <p:cNvPr id="3161" name="TextBox 3160">
            <a:extLst>
              <a:ext uri="{FF2B5EF4-FFF2-40B4-BE49-F238E27FC236}">
                <a16:creationId xmlns:a16="http://schemas.microsoft.com/office/drawing/2014/main" id="{6939BE1E-1DF5-014D-BE9A-ED722A68BC89}"/>
              </a:ext>
            </a:extLst>
          </p:cNvPr>
          <p:cNvSpPr txBox="1"/>
          <p:nvPr/>
        </p:nvSpPr>
        <p:spPr>
          <a:xfrm>
            <a:off x="5031147" y="1049560"/>
            <a:ext cx="1090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Rest</a:t>
            </a:r>
          </a:p>
        </p:txBody>
      </p:sp>
      <p:sp>
        <p:nvSpPr>
          <p:cNvPr id="3162" name="Rounded Rectangle 3161">
            <a:extLst>
              <a:ext uri="{FF2B5EF4-FFF2-40B4-BE49-F238E27FC236}">
                <a16:creationId xmlns:a16="http://schemas.microsoft.com/office/drawing/2014/main" id="{93F5CC76-61C7-7336-50D0-285A56DB8D1D}"/>
              </a:ext>
            </a:extLst>
          </p:cNvPr>
          <p:cNvSpPr/>
          <p:nvPr/>
        </p:nvSpPr>
        <p:spPr>
          <a:xfrm>
            <a:off x="4906300" y="925118"/>
            <a:ext cx="958885" cy="576943"/>
          </a:xfrm>
          <a:prstGeom prst="roundRect">
            <a:avLst/>
          </a:prstGeom>
          <a:solidFill>
            <a:srgbClr val="8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Rest</a:t>
            </a:r>
          </a:p>
        </p:txBody>
      </p:sp>
      <p:cxnSp>
        <p:nvCxnSpPr>
          <p:cNvPr id="3190" name="Straight Arrow Connector 3189">
            <a:extLst>
              <a:ext uri="{FF2B5EF4-FFF2-40B4-BE49-F238E27FC236}">
                <a16:creationId xmlns:a16="http://schemas.microsoft.com/office/drawing/2014/main" id="{511A88AA-DB8F-2548-B764-82221E7666EE}"/>
              </a:ext>
            </a:extLst>
          </p:cNvPr>
          <p:cNvCxnSpPr>
            <a:cxnSpLocks/>
          </p:cNvCxnSpPr>
          <p:nvPr/>
        </p:nvCxnSpPr>
        <p:spPr>
          <a:xfrm>
            <a:off x="4964333" y="814461"/>
            <a:ext cx="70709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6" name="TextBox 3195">
            <a:extLst>
              <a:ext uri="{FF2B5EF4-FFF2-40B4-BE49-F238E27FC236}">
                <a16:creationId xmlns:a16="http://schemas.microsoft.com/office/drawing/2014/main" id="{653A5CB7-1A0A-C91E-BF88-1E82D137BFD0}"/>
              </a:ext>
            </a:extLst>
          </p:cNvPr>
          <p:cNvSpPr txBox="1"/>
          <p:nvPr/>
        </p:nvSpPr>
        <p:spPr>
          <a:xfrm>
            <a:off x="7826442" y="528005"/>
            <a:ext cx="1719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Time Frames (TRs)</a:t>
            </a:r>
          </a:p>
        </p:txBody>
      </p:sp>
      <p:sp>
        <p:nvSpPr>
          <p:cNvPr id="3204" name="TextBox 3203">
            <a:extLst>
              <a:ext uri="{FF2B5EF4-FFF2-40B4-BE49-F238E27FC236}">
                <a16:creationId xmlns:a16="http://schemas.microsoft.com/office/drawing/2014/main" id="{B64237A8-3942-3A1B-951E-BA2D6EBD8F95}"/>
              </a:ext>
            </a:extLst>
          </p:cNvPr>
          <p:cNvSpPr txBox="1"/>
          <p:nvPr/>
        </p:nvSpPr>
        <p:spPr>
          <a:xfrm rot="16200000">
            <a:off x="4080252" y="988820"/>
            <a:ext cx="929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Brain</a:t>
            </a:r>
          </a:p>
          <a:p>
            <a:pPr algn="ctr"/>
            <a:r>
              <a:rPr lang="en-US" sz="1200" dirty="0">
                <a:latin typeface="Helvetica" pitchFamily="2" charset="0"/>
              </a:rPr>
              <a:t>Parcels</a:t>
            </a:r>
          </a:p>
        </p:txBody>
      </p:sp>
      <p:cxnSp>
        <p:nvCxnSpPr>
          <p:cNvPr id="3213" name="Straight Arrow Connector 3212">
            <a:extLst>
              <a:ext uri="{FF2B5EF4-FFF2-40B4-BE49-F238E27FC236}">
                <a16:creationId xmlns:a16="http://schemas.microsoft.com/office/drawing/2014/main" id="{90A4CFC1-6B47-9AEC-8811-719E630720C8}"/>
              </a:ext>
            </a:extLst>
          </p:cNvPr>
          <p:cNvCxnSpPr>
            <a:cxnSpLocks/>
          </p:cNvCxnSpPr>
          <p:nvPr/>
        </p:nvCxnSpPr>
        <p:spPr>
          <a:xfrm>
            <a:off x="4771878" y="944498"/>
            <a:ext cx="0" cy="5746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4" name="TextBox 3223">
            <a:extLst>
              <a:ext uri="{FF2B5EF4-FFF2-40B4-BE49-F238E27FC236}">
                <a16:creationId xmlns:a16="http://schemas.microsoft.com/office/drawing/2014/main" id="{4A9DA8EA-ADEA-C814-533C-4D4849C97EAB}"/>
              </a:ext>
            </a:extLst>
          </p:cNvPr>
          <p:cNvSpPr txBox="1"/>
          <p:nvPr/>
        </p:nvSpPr>
        <p:spPr>
          <a:xfrm>
            <a:off x="6377759" y="5266080"/>
            <a:ext cx="1259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Time (s)</a:t>
            </a:r>
          </a:p>
        </p:txBody>
      </p:sp>
      <p:sp>
        <p:nvSpPr>
          <p:cNvPr id="3228" name="TextBox 3227">
            <a:extLst>
              <a:ext uri="{FF2B5EF4-FFF2-40B4-BE49-F238E27FC236}">
                <a16:creationId xmlns:a16="http://schemas.microsoft.com/office/drawing/2014/main" id="{C505D23C-55AE-2D70-2C5E-8E1D0DADD6EF}"/>
              </a:ext>
            </a:extLst>
          </p:cNvPr>
          <p:cNvSpPr txBox="1"/>
          <p:nvPr/>
        </p:nvSpPr>
        <p:spPr>
          <a:xfrm>
            <a:off x="791640" y="9048403"/>
            <a:ext cx="218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Helvetica" pitchFamily="2" charset="0"/>
              </a:rPr>
              <a:t>Cofluctuation</a:t>
            </a:r>
            <a:r>
              <a:rPr lang="en-US" sz="1200" dirty="0">
                <a:latin typeface="Helvetica" pitchFamily="2" charset="0"/>
              </a:rPr>
              <a:t> of brain regions at a time frame</a:t>
            </a:r>
          </a:p>
        </p:txBody>
      </p:sp>
      <p:sp>
        <p:nvSpPr>
          <p:cNvPr id="3229" name="Right Arrow 3228">
            <a:extLst>
              <a:ext uri="{FF2B5EF4-FFF2-40B4-BE49-F238E27FC236}">
                <a16:creationId xmlns:a16="http://schemas.microsoft.com/office/drawing/2014/main" id="{25045B53-C5DE-1558-A7C9-4282223DB5DB}"/>
              </a:ext>
            </a:extLst>
          </p:cNvPr>
          <p:cNvSpPr/>
          <p:nvPr/>
        </p:nvSpPr>
        <p:spPr>
          <a:xfrm>
            <a:off x="6100911" y="9186909"/>
            <a:ext cx="2787977" cy="859915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Construct Mapper</a:t>
            </a:r>
          </a:p>
        </p:txBody>
      </p:sp>
      <p:sp>
        <p:nvSpPr>
          <p:cNvPr id="3239" name="TextBox 3238">
            <a:extLst>
              <a:ext uri="{FF2B5EF4-FFF2-40B4-BE49-F238E27FC236}">
                <a16:creationId xmlns:a16="http://schemas.microsoft.com/office/drawing/2014/main" id="{C4DB8A4B-E0EC-80CC-B07D-132204725A6B}"/>
              </a:ext>
            </a:extLst>
          </p:cNvPr>
          <p:cNvSpPr txBox="1"/>
          <p:nvPr/>
        </p:nvSpPr>
        <p:spPr>
          <a:xfrm>
            <a:off x="6163156" y="10191236"/>
            <a:ext cx="2813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Mapper edges = Overlapping clusters</a:t>
            </a:r>
          </a:p>
        </p:txBody>
      </p:sp>
      <p:sp>
        <p:nvSpPr>
          <p:cNvPr id="3241" name="TextBox 3240">
            <a:extLst>
              <a:ext uri="{FF2B5EF4-FFF2-40B4-BE49-F238E27FC236}">
                <a16:creationId xmlns:a16="http://schemas.microsoft.com/office/drawing/2014/main" id="{7C9A80A9-981E-A10F-2F6E-139DD4C06B57}"/>
              </a:ext>
            </a:extLst>
          </p:cNvPr>
          <p:cNvSpPr txBox="1"/>
          <p:nvPr/>
        </p:nvSpPr>
        <p:spPr>
          <a:xfrm>
            <a:off x="5264611" y="8114917"/>
            <a:ext cx="3686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Mapper nodes = Clusters of points (time frames)</a:t>
            </a:r>
          </a:p>
        </p:txBody>
      </p:sp>
      <p:sp>
        <p:nvSpPr>
          <p:cNvPr id="3242" name="Rounded Rectangle 3241">
            <a:extLst>
              <a:ext uri="{FF2B5EF4-FFF2-40B4-BE49-F238E27FC236}">
                <a16:creationId xmlns:a16="http://schemas.microsoft.com/office/drawing/2014/main" id="{5A84AE5B-698B-FD13-252A-655FBBF4489F}"/>
              </a:ext>
            </a:extLst>
          </p:cNvPr>
          <p:cNvSpPr/>
          <p:nvPr/>
        </p:nvSpPr>
        <p:spPr>
          <a:xfrm rot="5400000">
            <a:off x="1693478" y="8710721"/>
            <a:ext cx="305619" cy="1990587"/>
          </a:xfrm>
          <a:prstGeom prst="roundRect">
            <a:avLst/>
          </a:prstGeom>
          <a:solidFill>
            <a:schemeClr val="accent6">
              <a:alpha val="59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52" name="Graphic 3251" descr="Table outline">
            <a:extLst>
              <a:ext uri="{FF2B5EF4-FFF2-40B4-BE49-F238E27FC236}">
                <a16:creationId xmlns:a16="http://schemas.microsoft.com/office/drawing/2014/main" id="{6DE1BEF6-8ECC-B0BB-9E12-5119C8B5D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t="-1" b="57816"/>
          <a:stretch/>
        </p:blipFill>
        <p:spPr>
          <a:xfrm>
            <a:off x="697964" y="9207693"/>
            <a:ext cx="1522941" cy="642445"/>
          </a:xfrm>
          <a:prstGeom prst="rect">
            <a:avLst/>
          </a:prstGeom>
        </p:spPr>
      </p:pic>
      <p:pic>
        <p:nvPicPr>
          <p:cNvPr id="3268" name="Graphic 3267" descr="Table outline">
            <a:extLst>
              <a:ext uri="{FF2B5EF4-FFF2-40B4-BE49-F238E27FC236}">
                <a16:creationId xmlns:a16="http://schemas.microsoft.com/office/drawing/2014/main" id="{4F0807F7-9B47-2A55-C93E-ADABEC54A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t="-1" r="37057" b="57816"/>
          <a:stretch/>
        </p:blipFill>
        <p:spPr>
          <a:xfrm>
            <a:off x="1879829" y="9207693"/>
            <a:ext cx="958579" cy="642445"/>
          </a:xfrm>
          <a:prstGeom prst="rect">
            <a:avLst/>
          </a:prstGeom>
        </p:spPr>
      </p:pic>
      <p:sp>
        <p:nvSpPr>
          <p:cNvPr id="3298" name="TextBox 3297">
            <a:extLst>
              <a:ext uri="{FF2B5EF4-FFF2-40B4-BE49-F238E27FC236}">
                <a16:creationId xmlns:a16="http://schemas.microsoft.com/office/drawing/2014/main" id="{76809E93-955A-D4D4-6B45-89D15C61C928}"/>
              </a:ext>
            </a:extLst>
          </p:cNvPr>
          <p:cNvSpPr txBox="1"/>
          <p:nvPr/>
        </p:nvSpPr>
        <p:spPr>
          <a:xfrm>
            <a:off x="5202506" y="4392050"/>
            <a:ext cx="207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3299" name="TextBox 3298">
            <a:extLst>
              <a:ext uri="{FF2B5EF4-FFF2-40B4-BE49-F238E27FC236}">
                <a16:creationId xmlns:a16="http://schemas.microsoft.com/office/drawing/2014/main" id="{B1DCCDFD-AE5C-9CFE-6504-9D07DA5EB17E}"/>
              </a:ext>
            </a:extLst>
          </p:cNvPr>
          <p:cNvSpPr txBox="1"/>
          <p:nvPr/>
        </p:nvSpPr>
        <p:spPr>
          <a:xfrm>
            <a:off x="8831522" y="4325488"/>
            <a:ext cx="2070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</a:t>
            </a:r>
          </a:p>
        </p:txBody>
      </p:sp>
      <p:sp>
        <p:nvSpPr>
          <p:cNvPr id="3300" name="TextBox 3299">
            <a:extLst>
              <a:ext uri="{FF2B5EF4-FFF2-40B4-BE49-F238E27FC236}">
                <a16:creationId xmlns:a16="http://schemas.microsoft.com/office/drawing/2014/main" id="{688B00DA-DB9E-FEF9-A095-7C78F7857E39}"/>
              </a:ext>
            </a:extLst>
          </p:cNvPr>
          <p:cNvSpPr txBox="1"/>
          <p:nvPr/>
        </p:nvSpPr>
        <p:spPr>
          <a:xfrm>
            <a:off x="8831522" y="3633462"/>
            <a:ext cx="2070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</a:t>
            </a:r>
          </a:p>
        </p:txBody>
      </p:sp>
      <p:sp>
        <p:nvSpPr>
          <p:cNvPr id="1030" name="Individual frames where whole-brain activation was specific to task B">
            <a:extLst>
              <a:ext uri="{FF2B5EF4-FFF2-40B4-BE49-F238E27FC236}">
                <a16:creationId xmlns:a16="http://schemas.microsoft.com/office/drawing/2014/main" id="{B5244BED-E0B3-920A-1612-EC7174CFE199}"/>
              </a:ext>
            </a:extLst>
          </p:cNvPr>
          <p:cNvSpPr txBox="1"/>
          <p:nvPr/>
        </p:nvSpPr>
        <p:spPr>
          <a:xfrm>
            <a:off x="6046065" y="8554837"/>
            <a:ext cx="2113080" cy="73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5742" tIns="15742" rIns="15742" bIns="15742" anchor="ctr"/>
          <a:lstStyle/>
          <a:p>
            <a:pPr defTabSz="639729">
              <a:defRPr sz="15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dirty="0" err="1">
                <a:solidFill>
                  <a:srgbClr val="E59B4B"/>
                </a:solidFill>
                <a:latin typeface="Helvetica" pitchFamily="2" charset="0"/>
              </a:rPr>
              <a:t>Cofluctuations</a:t>
            </a:r>
            <a:r>
              <a:rPr lang="en-US" sz="1200" dirty="0">
                <a:solidFill>
                  <a:srgbClr val="E59B4B"/>
                </a:solidFill>
                <a:latin typeface="Helvetica" pitchFamily="2" charset="0"/>
              </a:rPr>
              <a:t> from time</a:t>
            </a:r>
            <a:r>
              <a:rPr sz="1200" dirty="0">
                <a:solidFill>
                  <a:srgbClr val="E59B4B"/>
                </a:solidFill>
                <a:latin typeface="Helvetica" pitchFamily="2" charset="0"/>
              </a:rPr>
              <a:t> frames </a:t>
            </a:r>
            <a:r>
              <a:rPr lang="en-US" sz="1200" dirty="0">
                <a:solidFill>
                  <a:srgbClr val="E59B4B"/>
                </a:solidFill>
                <a:latin typeface="Helvetica" pitchFamily="2" charset="0"/>
              </a:rPr>
              <a:t>from the</a:t>
            </a:r>
            <a:r>
              <a:rPr sz="1200" dirty="0">
                <a:solidFill>
                  <a:srgbClr val="E59B4B"/>
                </a:solidFill>
                <a:latin typeface="Helvetica" pitchFamily="2" charset="0"/>
              </a:rPr>
              <a:t> </a:t>
            </a:r>
            <a:r>
              <a:rPr lang="en-US" sz="1200" b="1" dirty="0">
                <a:solidFill>
                  <a:srgbClr val="E59B4B"/>
                </a:solidFill>
                <a:latin typeface="Helvetica" pitchFamily="2" charset="0"/>
              </a:rPr>
              <a:t>social task</a:t>
            </a:r>
            <a:endParaRPr sz="1200" b="1" dirty="0">
              <a:solidFill>
                <a:srgbClr val="E59B4B"/>
              </a:solidFill>
              <a:latin typeface="Helvetica" pitchFamily="2" charset="0"/>
            </a:endParaRPr>
          </a:p>
        </p:txBody>
      </p:sp>
      <p:sp>
        <p:nvSpPr>
          <p:cNvPr id="1031" name="Individual frames where whole-brain activation was specific to task C">
            <a:extLst>
              <a:ext uri="{FF2B5EF4-FFF2-40B4-BE49-F238E27FC236}">
                <a16:creationId xmlns:a16="http://schemas.microsoft.com/office/drawing/2014/main" id="{9B804EF2-147A-0662-9131-97554C4621E5}"/>
              </a:ext>
            </a:extLst>
          </p:cNvPr>
          <p:cNvSpPr txBox="1"/>
          <p:nvPr/>
        </p:nvSpPr>
        <p:spPr>
          <a:xfrm>
            <a:off x="2872542" y="10161090"/>
            <a:ext cx="2290950" cy="580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5742" tIns="15742" rIns="15742" bIns="15742" anchor="ctr"/>
          <a:lstStyle/>
          <a:p>
            <a:pPr defTabSz="639729">
              <a:defRPr sz="15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dirty="0" err="1">
                <a:solidFill>
                  <a:srgbClr val="DE745F"/>
                </a:solidFill>
                <a:latin typeface="Helvetica" pitchFamily="2" charset="0"/>
              </a:rPr>
              <a:t>Cofluctuations</a:t>
            </a:r>
            <a:r>
              <a:rPr lang="en-US" sz="1200" dirty="0">
                <a:solidFill>
                  <a:srgbClr val="DE745F"/>
                </a:solidFill>
                <a:latin typeface="Helvetica" pitchFamily="2" charset="0"/>
              </a:rPr>
              <a:t> from time frames from the</a:t>
            </a:r>
            <a:r>
              <a:rPr sz="1200" dirty="0">
                <a:solidFill>
                  <a:srgbClr val="DE745F"/>
                </a:solidFill>
                <a:latin typeface="Helvetica" pitchFamily="2" charset="0"/>
              </a:rPr>
              <a:t> </a:t>
            </a:r>
            <a:r>
              <a:rPr lang="en-US" sz="1200" b="1" dirty="0">
                <a:solidFill>
                  <a:srgbClr val="DE745F"/>
                </a:solidFill>
                <a:latin typeface="Helvetica" pitchFamily="2" charset="0"/>
              </a:rPr>
              <a:t>working memory task</a:t>
            </a:r>
            <a:endParaRPr sz="1200" b="1" dirty="0">
              <a:solidFill>
                <a:srgbClr val="DE745F"/>
              </a:solidFill>
              <a:latin typeface="Helvetica" pitchFamily="2" charset="0"/>
            </a:endParaRPr>
          </a:p>
        </p:txBody>
      </p:sp>
      <p:sp>
        <p:nvSpPr>
          <p:cNvPr id="1036" name="Individual frames where whole-brain activation was specific to task A">
            <a:extLst>
              <a:ext uri="{FF2B5EF4-FFF2-40B4-BE49-F238E27FC236}">
                <a16:creationId xmlns:a16="http://schemas.microsoft.com/office/drawing/2014/main" id="{D2E20A36-E130-2C35-E21F-2FD87F9639A6}"/>
              </a:ext>
            </a:extLst>
          </p:cNvPr>
          <p:cNvSpPr txBox="1"/>
          <p:nvPr/>
        </p:nvSpPr>
        <p:spPr>
          <a:xfrm>
            <a:off x="2654686" y="8453466"/>
            <a:ext cx="2050468" cy="445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5742" tIns="15742" rIns="15742" bIns="15742" anchor="ctr"/>
          <a:lstStyle/>
          <a:p>
            <a:pPr defTabSz="639729">
              <a:defRPr sz="15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dirty="0" err="1">
                <a:solidFill>
                  <a:srgbClr val="609EF4"/>
                </a:solidFill>
                <a:latin typeface="Helvetica" pitchFamily="2" charset="0"/>
              </a:rPr>
              <a:t>Cofluctuations</a:t>
            </a:r>
            <a:r>
              <a:rPr lang="en-US" sz="1200" dirty="0">
                <a:solidFill>
                  <a:srgbClr val="609EF4"/>
                </a:solidFill>
                <a:latin typeface="Helvetica" pitchFamily="2" charset="0"/>
              </a:rPr>
              <a:t> at time frames from the</a:t>
            </a:r>
            <a:r>
              <a:rPr sz="1200" dirty="0">
                <a:solidFill>
                  <a:srgbClr val="609EF4"/>
                </a:solidFill>
                <a:latin typeface="Helvetica" pitchFamily="2" charset="0"/>
              </a:rPr>
              <a:t> </a:t>
            </a:r>
            <a:r>
              <a:rPr lang="en-US" sz="1200" b="1" dirty="0">
                <a:solidFill>
                  <a:srgbClr val="609EF4"/>
                </a:solidFill>
                <a:latin typeface="Helvetica" pitchFamily="2" charset="0"/>
              </a:rPr>
              <a:t>relational task</a:t>
            </a:r>
            <a:endParaRPr sz="1200" b="1" dirty="0">
              <a:solidFill>
                <a:srgbClr val="609EF4"/>
              </a:solidFill>
              <a:latin typeface="Helvetica" pitchFamily="2" charset="0"/>
            </a:endParaRPr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6685F29E-1E08-E697-5543-16EC3162AD41}"/>
              </a:ext>
            </a:extLst>
          </p:cNvPr>
          <p:cNvSpPr/>
          <p:nvPr/>
        </p:nvSpPr>
        <p:spPr>
          <a:xfrm>
            <a:off x="9722012" y="9132890"/>
            <a:ext cx="219229" cy="219229"/>
          </a:xfrm>
          <a:prstGeom prst="ellipse">
            <a:avLst/>
          </a:prstGeom>
          <a:solidFill>
            <a:srgbClr val="E59B4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8BF116A1-9F2D-4501-E144-F84BE38F0D73}"/>
              </a:ext>
            </a:extLst>
          </p:cNvPr>
          <p:cNvSpPr/>
          <p:nvPr/>
        </p:nvSpPr>
        <p:spPr>
          <a:xfrm>
            <a:off x="10001211" y="8838158"/>
            <a:ext cx="219229" cy="219229"/>
          </a:xfrm>
          <a:prstGeom prst="ellipse">
            <a:avLst/>
          </a:prstGeom>
          <a:solidFill>
            <a:srgbClr val="E59B4B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182226D5-D0F9-42D2-7351-0287DD1A0986}"/>
              </a:ext>
            </a:extLst>
          </p:cNvPr>
          <p:cNvSpPr/>
          <p:nvPr/>
        </p:nvSpPr>
        <p:spPr>
          <a:xfrm>
            <a:off x="9503568" y="10320397"/>
            <a:ext cx="219229" cy="219229"/>
          </a:xfrm>
          <a:prstGeom prst="ellipse">
            <a:avLst/>
          </a:prstGeom>
          <a:solidFill>
            <a:srgbClr val="DE745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1500397C-2C8F-C9A8-A69B-B883E373D53E}"/>
              </a:ext>
            </a:extLst>
          </p:cNvPr>
          <p:cNvCxnSpPr>
            <a:cxnSpLocks/>
            <a:stCxn id="1059" idx="4"/>
            <a:endCxn id="1076" idx="0"/>
          </p:cNvCxnSpPr>
          <p:nvPr/>
        </p:nvCxnSpPr>
        <p:spPr>
          <a:xfrm>
            <a:off x="9563343" y="9659221"/>
            <a:ext cx="44921" cy="17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A808F591-9E39-10BD-0016-2FA67FD38E4E}"/>
              </a:ext>
            </a:extLst>
          </p:cNvPr>
          <p:cNvCxnSpPr>
            <a:cxnSpLocks/>
            <a:stCxn id="1053" idx="3"/>
            <a:endCxn id="1052" idx="7"/>
          </p:cNvCxnSpPr>
          <p:nvPr/>
        </p:nvCxnSpPr>
        <p:spPr>
          <a:xfrm flipH="1">
            <a:off x="9909128" y="9025282"/>
            <a:ext cx="124180" cy="139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F8150660-88FD-9184-671C-FB189AB43DF5}"/>
              </a:ext>
            </a:extLst>
          </p:cNvPr>
          <p:cNvCxnSpPr>
            <a:cxnSpLocks/>
            <a:stCxn id="1054" idx="0"/>
            <a:endCxn id="1076" idx="4"/>
          </p:cNvCxnSpPr>
          <p:nvPr/>
        </p:nvCxnSpPr>
        <p:spPr>
          <a:xfrm flipH="1" flipV="1">
            <a:off x="9608264" y="10055504"/>
            <a:ext cx="4919" cy="264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9" name="Oval 1058">
            <a:extLst>
              <a:ext uri="{FF2B5EF4-FFF2-40B4-BE49-F238E27FC236}">
                <a16:creationId xmlns:a16="http://schemas.microsoft.com/office/drawing/2014/main" id="{083ECAC6-D6EC-41D1-709B-340D1A249A4E}"/>
              </a:ext>
            </a:extLst>
          </p:cNvPr>
          <p:cNvSpPr/>
          <p:nvPr/>
        </p:nvSpPr>
        <p:spPr>
          <a:xfrm>
            <a:off x="9453728" y="9439997"/>
            <a:ext cx="219229" cy="2192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C7BAFA6E-7B59-F327-C972-A37CAEA0D832}"/>
              </a:ext>
            </a:extLst>
          </p:cNvPr>
          <p:cNvCxnSpPr>
            <a:cxnSpLocks/>
            <a:stCxn id="1059" idx="7"/>
            <a:endCxn id="1052" idx="3"/>
          </p:cNvCxnSpPr>
          <p:nvPr/>
        </p:nvCxnSpPr>
        <p:spPr>
          <a:xfrm flipV="1">
            <a:off x="9640852" y="9320006"/>
            <a:ext cx="113265" cy="152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Oval 1063">
            <a:extLst>
              <a:ext uri="{FF2B5EF4-FFF2-40B4-BE49-F238E27FC236}">
                <a16:creationId xmlns:a16="http://schemas.microsoft.com/office/drawing/2014/main" id="{8655E343-8F76-E3B0-CB87-706726A239D3}"/>
              </a:ext>
            </a:extLst>
          </p:cNvPr>
          <p:cNvSpPr/>
          <p:nvPr/>
        </p:nvSpPr>
        <p:spPr>
          <a:xfrm>
            <a:off x="9131776" y="9112704"/>
            <a:ext cx="219229" cy="219229"/>
          </a:xfrm>
          <a:prstGeom prst="ellipse">
            <a:avLst/>
          </a:prstGeom>
          <a:solidFill>
            <a:srgbClr val="609EF4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Oval 1071">
            <a:extLst>
              <a:ext uri="{FF2B5EF4-FFF2-40B4-BE49-F238E27FC236}">
                <a16:creationId xmlns:a16="http://schemas.microsoft.com/office/drawing/2014/main" id="{05545C74-6A34-3628-CD8A-BDFCDEE39CE4}"/>
              </a:ext>
            </a:extLst>
          </p:cNvPr>
          <p:cNvSpPr/>
          <p:nvPr/>
        </p:nvSpPr>
        <p:spPr>
          <a:xfrm>
            <a:off x="8871859" y="8809092"/>
            <a:ext cx="219229" cy="219229"/>
          </a:xfrm>
          <a:prstGeom prst="ellipse">
            <a:avLst/>
          </a:prstGeom>
          <a:solidFill>
            <a:srgbClr val="609EF4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0168141C-8274-F6EB-4FC4-2E5E2A0128BD}"/>
              </a:ext>
            </a:extLst>
          </p:cNvPr>
          <p:cNvCxnSpPr>
            <a:cxnSpLocks/>
            <a:stCxn id="1064" idx="5"/>
            <a:endCxn id="1059" idx="1"/>
          </p:cNvCxnSpPr>
          <p:nvPr/>
        </p:nvCxnSpPr>
        <p:spPr>
          <a:xfrm>
            <a:off x="9318900" y="9299820"/>
            <a:ext cx="166933" cy="172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5C35773A-48F3-E445-AD87-65916D157788}"/>
              </a:ext>
            </a:extLst>
          </p:cNvPr>
          <p:cNvCxnSpPr>
            <a:cxnSpLocks/>
            <a:stCxn id="1072" idx="5"/>
            <a:endCxn id="1064" idx="1"/>
          </p:cNvCxnSpPr>
          <p:nvPr/>
        </p:nvCxnSpPr>
        <p:spPr>
          <a:xfrm>
            <a:off x="9058975" y="8996216"/>
            <a:ext cx="104898" cy="148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6" name="Oval 1075">
            <a:extLst>
              <a:ext uri="{FF2B5EF4-FFF2-40B4-BE49-F238E27FC236}">
                <a16:creationId xmlns:a16="http://schemas.microsoft.com/office/drawing/2014/main" id="{865EC8D6-C530-10A8-6665-850DC8488C82}"/>
              </a:ext>
            </a:extLst>
          </p:cNvPr>
          <p:cNvSpPr/>
          <p:nvPr/>
        </p:nvSpPr>
        <p:spPr>
          <a:xfrm>
            <a:off x="9498649" y="9836280"/>
            <a:ext cx="219229" cy="219229"/>
          </a:xfrm>
          <a:prstGeom prst="ellipse">
            <a:avLst/>
          </a:prstGeom>
          <a:solidFill>
            <a:srgbClr val="DE745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F7BC0C7C-0DFC-4379-88F4-DD067796C5EA}"/>
              </a:ext>
            </a:extLst>
          </p:cNvPr>
          <p:cNvSpPr txBox="1"/>
          <p:nvPr/>
        </p:nvSpPr>
        <p:spPr>
          <a:xfrm>
            <a:off x="8758168" y="93360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330" name="Oval">
            <a:extLst>
              <a:ext uri="{FF2B5EF4-FFF2-40B4-BE49-F238E27FC236}">
                <a16:creationId xmlns:a16="http://schemas.microsoft.com/office/drawing/2014/main" id="{B4A58226-CFE6-2AF1-6B6C-F2DB42D7C15D}"/>
              </a:ext>
            </a:extLst>
          </p:cNvPr>
          <p:cNvSpPr/>
          <p:nvPr/>
        </p:nvSpPr>
        <p:spPr>
          <a:xfrm>
            <a:off x="9454303" y="9449205"/>
            <a:ext cx="214995" cy="202548"/>
          </a:xfrm>
          <a:prstGeom prst="ellipse">
            <a:avLst/>
          </a:prstGeom>
          <a:solidFill>
            <a:srgbClr val="DE745F"/>
          </a:solidFill>
          <a:ln w="3175">
            <a:solidFill>
              <a:srgbClr val="000000"/>
            </a:solidFill>
            <a:miter lim="400000"/>
          </a:ln>
        </p:spPr>
        <p:txBody>
          <a:bodyPr lIns="15742" tIns="15742" rIns="15742" bIns="15742" anchor="ctr"/>
          <a:lstStyle/>
          <a:p>
            <a:pPr algn="ctr" defTabSz="642819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2400" dirty="0"/>
          </a:p>
        </p:txBody>
      </p:sp>
      <p:sp>
        <p:nvSpPr>
          <p:cNvPr id="3331" name="Shape">
            <a:extLst>
              <a:ext uri="{FF2B5EF4-FFF2-40B4-BE49-F238E27FC236}">
                <a16:creationId xmlns:a16="http://schemas.microsoft.com/office/drawing/2014/main" id="{F68D6D23-BABD-7EDF-D2E0-6E3A6EF48C7E}"/>
              </a:ext>
            </a:extLst>
          </p:cNvPr>
          <p:cNvSpPr/>
          <p:nvPr/>
        </p:nvSpPr>
        <p:spPr>
          <a:xfrm>
            <a:off x="9563062" y="9450713"/>
            <a:ext cx="76650" cy="1031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6281"/>
                </a:lnTo>
                <a:cubicBezTo>
                  <a:pt x="18486" y="4151"/>
                  <a:pt x="14775" y="2495"/>
                  <a:pt x="10701" y="1418"/>
                </a:cubicBezTo>
                <a:cubicBezTo>
                  <a:pt x="7279" y="514"/>
                  <a:pt x="3658" y="34"/>
                  <a:pt x="0" y="0"/>
                </a:cubicBezTo>
                <a:close/>
              </a:path>
            </a:pathLst>
          </a:custGeom>
          <a:solidFill>
            <a:srgbClr val="E59B4B"/>
          </a:solidFill>
          <a:ln w="3175">
            <a:solidFill>
              <a:srgbClr val="000000"/>
            </a:solidFill>
            <a:miter lim="400000"/>
          </a:ln>
        </p:spPr>
        <p:txBody>
          <a:bodyPr lIns="15742" tIns="15742" rIns="15742" bIns="15742" anchor="ctr"/>
          <a:lstStyle/>
          <a:p>
            <a:pPr algn="ctr" defTabSz="1898743">
              <a:defRPr sz="16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sp>
        <p:nvSpPr>
          <p:cNvPr id="3332" name="Shape">
            <a:extLst>
              <a:ext uri="{FF2B5EF4-FFF2-40B4-BE49-F238E27FC236}">
                <a16:creationId xmlns:a16="http://schemas.microsoft.com/office/drawing/2014/main" id="{CDA34BF4-C610-3443-B34A-0A90A219EFCE}"/>
              </a:ext>
            </a:extLst>
          </p:cNvPr>
          <p:cNvSpPr/>
          <p:nvPr/>
        </p:nvSpPr>
        <p:spPr>
          <a:xfrm flipH="1">
            <a:off x="9457572" y="9450575"/>
            <a:ext cx="104506" cy="1793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627" h="21565" extrusionOk="0">
                <a:moveTo>
                  <a:pt x="0" y="3"/>
                </a:moveTo>
                <a:lnTo>
                  <a:pt x="0" y="12242"/>
                </a:lnTo>
                <a:lnTo>
                  <a:pt x="10665" y="21565"/>
                </a:lnTo>
                <a:cubicBezTo>
                  <a:pt x="21600" y="15818"/>
                  <a:pt x="19260" y="4412"/>
                  <a:pt x="6405" y="807"/>
                </a:cubicBezTo>
                <a:cubicBezTo>
                  <a:pt x="4381" y="239"/>
                  <a:pt x="2197" y="-35"/>
                  <a:pt x="0" y="3"/>
                </a:cubicBezTo>
                <a:close/>
              </a:path>
            </a:pathLst>
          </a:custGeom>
          <a:solidFill>
            <a:srgbClr val="609EF4"/>
          </a:solidFill>
          <a:ln w="3175">
            <a:solidFill>
              <a:srgbClr val="000000"/>
            </a:solidFill>
            <a:miter lim="400000"/>
          </a:ln>
        </p:spPr>
        <p:txBody>
          <a:bodyPr lIns="15742" tIns="15742" rIns="15742" bIns="15742" anchor="ctr"/>
          <a:lstStyle/>
          <a:p>
            <a:pPr algn="ctr" defTabSz="1898743">
              <a:defRPr sz="16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pic>
        <p:nvPicPr>
          <p:cNvPr id="3359" name="Picture 3358">
            <a:extLst>
              <a:ext uri="{FF2B5EF4-FFF2-40B4-BE49-F238E27FC236}">
                <a16:creationId xmlns:a16="http://schemas.microsoft.com/office/drawing/2014/main" id="{81381AD7-DDB7-3010-655F-1FBBAB10F848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421982" y="11364288"/>
            <a:ext cx="2284281" cy="2284281"/>
          </a:xfrm>
          <a:prstGeom prst="rect">
            <a:avLst/>
          </a:prstGeom>
        </p:spPr>
      </p:pic>
      <p:pic>
        <p:nvPicPr>
          <p:cNvPr id="3361" name="Picture 3360">
            <a:extLst>
              <a:ext uri="{FF2B5EF4-FFF2-40B4-BE49-F238E27FC236}">
                <a16:creationId xmlns:a16="http://schemas.microsoft.com/office/drawing/2014/main" id="{53D72553-2F96-824E-99D3-5ADAD332E5C3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4206" y="11436814"/>
            <a:ext cx="2150120" cy="2150120"/>
          </a:xfrm>
          <a:prstGeom prst="rect">
            <a:avLst/>
          </a:prstGeom>
        </p:spPr>
      </p:pic>
      <p:pic>
        <p:nvPicPr>
          <p:cNvPr id="3368" name="Picture 3367">
            <a:extLst>
              <a:ext uri="{FF2B5EF4-FFF2-40B4-BE49-F238E27FC236}">
                <a16:creationId xmlns:a16="http://schemas.microsoft.com/office/drawing/2014/main" id="{AB792BE7-6EFF-7BE8-B020-F5460D820C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966115" y="11343963"/>
            <a:ext cx="2284281" cy="2284281"/>
          </a:xfrm>
          <a:prstGeom prst="rect">
            <a:avLst/>
          </a:prstGeom>
        </p:spPr>
      </p:pic>
      <p:cxnSp>
        <p:nvCxnSpPr>
          <p:cNvPr id="3371" name="Straight Arrow Connector 3370">
            <a:extLst>
              <a:ext uri="{FF2B5EF4-FFF2-40B4-BE49-F238E27FC236}">
                <a16:creationId xmlns:a16="http://schemas.microsoft.com/office/drawing/2014/main" id="{56E998BF-2992-9183-DF5A-D6FC1FE8B066}"/>
              </a:ext>
            </a:extLst>
          </p:cNvPr>
          <p:cNvCxnSpPr>
            <a:cxnSpLocks/>
          </p:cNvCxnSpPr>
          <p:nvPr/>
        </p:nvCxnSpPr>
        <p:spPr>
          <a:xfrm>
            <a:off x="530064" y="11318503"/>
            <a:ext cx="66107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3" name="TextBox 3372">
            <a:extLst>
              <a:ext uri="{FF2B5EF4-FFF2-40B4-BE49-F238E27FC236}">
                <a16:creationId xmlns:a16="http://schemas.microsoft.com/office/drawing/2014/main" id="{AC3E1CBE-F5E8-5F95-7DB0-74462E248E1C}"/>
              </a:ext>
            </a:extLst>
          </p:cNvPr>
          <p:cNvSpPr txBox="1"/>
          <p:nvPr/>
        </p:nvSpPr>
        <p:spPr>
          <a:xfrm>
            <a:off x="2778900" y="11013312"/>
            <a:ext cx="2187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Increasing modularity</a:t>
            </a:r>
          </a:p>
        </p:txBody>
      </p:sp>
      <p:sp>
        <p:nvSpPr>
          <p:cNvPr id="3388" name="TextBox 3387">
            <a:extLst>
              <a:ext uri="{FF2B5EF4-FFF2-40B4-BE49-F238E27FC236}">
                <a16:creationId xmlns:a16="http://schemas.microsoft.com/office/drawing/2014/main" id="{3020461C-4568-2F1C-45D2-053B22A71819}"/>
              </a:ext>
            </a:extLst>
          </p:cNvPr>
          <p:cNvSpPr txBox="1"/>
          <p:nvPr/>
        </p:nvSpPr>
        <p:spPr>
          <a:xfrm>
            <a:off x="0" y="3"/>
            <a:ext cx="1192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</a:t>
            </a:r>
          </a:p>
        </p:txBody>
      </p:sp>
      <p:sp>
        <p:nvSpPr>
          <p:cNvPr id="3389" name="TextBox 3388">
            <a:extLst>
              <a:ext uri="{FF2B5EF4-FFF2-40B4-BE49-F238E27FC236}">
                <a16:creationId xmlns:a16="http://schemas.microsoft.com/office/drawing/2014/main" id="{46B5835C-279F-86E5-164E-1147087F0514}"/>
              </a:ext>
            </a:extLst>
          </p:cNvPr>
          <p:cNvSpPr txBox="1"/>
          <p:nvPr/>
        </p:nvSpPr>
        <p:spPr>
          <a:xfrm>
            <a:off x="4236768" y="3"/>
            <a:ext cx="1192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</a:t>
            </a:r>
          </a:p>
        </p:txBody>
      </p:sp>
      <p:sp>
        <p:nvSpPr>
          <p:cNvPr id="3391" name="TextBox 3390">
            <a:extLst>
              <a:ext uri="{FF2B5EF4-FFF2-40B4-BE49-F238E27FC236}">
                <a16:creationId xmlns:a16="http://schemas.microsoft.com/office/drawing/2014/main" id="{17D6C954-E0A0-4D9C-B5B3-ABB068D19C1F}"/>
              </a:ext>
            </a:extLst>
          </p:cNvPr>
          <p:cNvSpPr txBox="1"/>
          <p:nvPr/>
        </p:nvSpPr>
        <p:spPr>
          <a:xfrm>
            <a:off x="870094" y="2378193"/>
            <a:ext cx="2837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 			 Node</a:t>
            </a:r>
          </a:p>
        </p:txBody>
      </p:sp>
      <p:sp>
        <p:nvSpPr>
          <p:cNvPr id="3073" name="TextBox 3072">
            <a:extLst>
              <a:ext uri="{FF2B5EF4-FFF2-40B4-BE49-F238E27FC236}">
                <a16:creationId xmlns:a16="http://schemas.microsoft.com/office/drawing/2014/main" id="{52FE8035-8E1E-1C65-D2F5-DEF64E84BF93}"/>
              </a:ext>
            </a:extLst>
          </p:cNvPr>
          <p:cNvSpPr txBox="1"/>
          <p:nvPr/>
        </p:nvSpPr>
        <p:spPr>
          <a:xfrm>
            <a:off x="4810723" y="2376523"/>
            <a:ext cx="29580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d. 			Edge</a:t>
            </a:r>
          </a:p>
        </p:txBody>
      </p:sp>
      <p:sp>
        <p:nvSpPr>
          <p:cNvPr id="3074" name="TextBox 3073">
            <a:extLst>
              <a:ext uri="{FF2B5EF4-FFF2-40B4-BE49-F238E27FC236}">
                <a16:creationId xmlns:a16="http://schemas.microsoft.com/office/drawing/2014/main" id="{C204D87C-2CED-F37E-B29A-E397657F293D}"/>
              </a:ext>
            </a:extLst>
          </p:cNvPr>
          <p:cNvSpPr txBox="1"/>
          <p:nvPr/>
        </p:nvSpPr>
        <p:spPr>
          <a:xfrm>
            <a:off x="8680243" y="2380569"/>
            <a:ext cx="2343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e. 		       Triangle</a:t>
            </a:r>
          </a:p>
        </p:txBody>
      </p:sp>
      <p:sp>
        <p:nvSpPr>
          <p:cNvPr id="3076" name="TextBox 3075">
            <a:extLst>
              <a:ext uri="{FF2B5EF4-FFF2-40B4-BE49-F238E27FC236}">
                <a16:creationId xmlns:a16="http://schemas.microsoft.com/office/drawing/2014/main" id="{AED09422-A2AB-1C8B-BD65-D6DB24C63994}"/>
              </a:ext>
            </a:extLst>
          </p:cNvPr>
          <p:cNvSpPr txBox="1"/>
          <p:nvPr/>
        </p:nvSpPr>
        <p:spPr>
          <a:xfrm>
            <a:off x="418902" y="8228884"/>
            <a:ext cx="2837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f.</a:t>
            </a:r>
          </a:p>
        </p:txBody>
      </p:sp>
      <p:sp>
        <p:nvSpPr>
          <p:cNvPr id="3078" name="TextBox 3077">
            <a:extLst>
              <a:ext uri="{FF2B5EF4-FFF2-40B4-BE49-F238E27FC236}">
                <a16:creationId xmlns:a16="http://schemas.microsoft.com/office/drawing/2014/main" id="{DDA52BD2-3E70-48DA-6267-6EBB7FEBCEFA}"/>
              </a:ext>
            </a:extLst>
          </p:cNvPr>
          <p:cNvSpPr txBox="1"/>
          <p:nvPr/>
        </p:nvSpPr>
        <p:spPr>
          <a:xfrm>
            <a:off x="44538" y="10990350"/>
            <a:ext cx="2837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g.</a:t>
            </a:r>
          </a:p>
        </p:txBody>
      </p:sp>
      <p:sp>
        <p:nvSpPr>
          <p:cNvPr id="3079" name="TextBox 3078">
            <a:extLst>
              <a:ext uri="{FF2B5EF4-FFF2-40B4-BE49-F238E27FC236}">
                <a16:creationId xmlns:a16="http://schemas.microsoft.com/office/drawing/2014/main" id="{5089BA37-6CB9-A19C-F0DD-6BF7F81E844C}"/>
              </a:ext>
            </a:extLst>
          </p:cNvPr>
          <p:cNvSpPr txBox="1"/>
          <p:nvPr/>
        </p:nvSpPr>
        <p:spPr>
          <a:xfrm>
            <a:off x="7931745" y="10992447"/>
            <a:ext cx="2837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h.</a:t>
            </a:r>
          </a:p>
        </p:txBody>
      </p:sp>
      <p:pic>
        <p:nvPicPr>
          <p:cNvPr id="3080" name="Picture 3079">
            <a:extLst>
              <a:ext uri="{FF2B5EF4-FFF2-40B4-BE49-F238E27FC236}">
                <a16:creationId xmlns:a16="http://schemas.microsoft.com/office/drawing/2014/main" id="{F2AA3D72-5013-EA55-0CFF-A602F364F5B2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l="11818" t="7560" b="11861"/>
          <a:stretch>
            <a:fillRect/>
          </a:stretch>
        </p:blipFill>
        <p:spPr>
          <a:xfrm>
            <a:off x="9809211" y="14294279"/>
            <a:ext cx="1973698" cy="1803524"/>
          </a:xfrm>
          <a:prstGeom prst="rect">
            <a:avLst/>
          </a:prstGeom>
        </p:spPr>
      </p:pic>
      <p:sp>
        <p:nvSpPr>
          <p:cNvPr id="3081" name="TextBox 3080">
            <a:extLst>
              <a:ext uri="{FF2B5EF4-FFF2-40B4-BE49-F238E27FC236}">
                <a16:creationId xmlns:a16="http://schemas.microsoft.com/office/drawing/2014/main" id="{C61FD858-EA36-8B27-D105-0543DF91C582}"/>
              </a:ext>
            </a:extLst>
          </p:cNvPr>
          <p:cNvSpPr txBox="1"/>
          <p:nvPr/>
        </p:nvSpPr>
        <p:spPr>
          <a:xfrm>
            <a:off x="44543" y="13810870"/>
            <a:ext cx="2837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i.</a:t>
            </a:r>
          </a:p>
        </p:txBody>
      </p:sp>
      <p:sp>
        <p:nvSpPr>
          <p:cNvPr id="3085" name="TextBox 3084">
            <a:extLst>
              <a:ext uri="{FF2B5EF4-FFF2-40B4-BE49-F238E27FC236}">
                <a16:creationId xmlns:a16="http://schemas.microsoft.com/office/drawing/2014/main" id="{C65E8A04-509B-4FB6-2E6B-4037FFF6EF70}"/>
              </a:ext>
            </a:extLst>
          </p:cNvPr>
          <p:cNvSpPr txBox="1"/>
          <p:nvPr/>
        </p:nvSpPr>
        <p:spPr>
          <a:xfrm>
            <a:off x="7971448" y="14446679"/>
            <a:ext cx="15081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Relate Mapper topological properties to individual differences in </a:t>
            </a:r>
            <a:r>
              <a:rPr lang="en-US" sz="1200" b="1" dirty="0">
                <a:latin typeface="Helvetica" pitchFamily="2" charset="0"/>
              </a:rPr>
              <a:t>personality</a:t>
            </a:r>
            <a:r>
              <a:rPr lang="en-US" sz="1200" dirty="0">
                <a:latin typeface="Helvetica" pitchFamily="2" charset="0"/>
              </a:rPr>
              <a:t> and </a:t>
            </a:r>
            <a:r>
              <a:rPr lang="en-US" sz="1200" b="1" dirty="0">
                <a:latin typeface="Helvetica" pitchFamily="2" charset="0"/>
              </a:rPr>
              <a:t>psychopathology</a:t>
            </a:r>
          </a:p>
        </p:txBody>
      </p:sp>
      <p:sp>
        <p:nvSpPr>
          <p:cNvPr id="3090" name="TextBox 3089">
            <a:extLst>
              <a:ext uri="{FF2B5EF4-FFF2-40B4-BE49-F238E27FC236}">
                <a16:creationId xmlns:a16="http://schemas.microsoft.com/office/drawing/2014/main" id="{7F55AD0C-0406-0D67-238A-B29C19D01E7B}"/>
              </a:ext>
            </a:extLst>
          </p:cNvPr>
          <p:cNvSpPr txBox="1"/>
          <p:nvPr/>
        </p:nvSpPr>
        <p:spPr>
          <a:xfrm>
            <a:off x="389088" y="14409823"/>
            <a:ext cx="1251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Compare the topological properties </a:t>
            </a:r>
            <a:r>
              <a:rPr lang="en-US" sz="1200" dirty="0">
                <a:latin typeface="Helvetica" pitchFamily="2" charset="0"/>
              </a:rPr>
              <a:t>across node, edge, and triangle time series Mapper graphs</a:t>
            </a:r>
          </a:p>
        </p:txBody>
      </p:sp>
      <p:sp>
        <p:nvSpPr>
          <p:cNvPr id="3092" name="TextBox 3091">
            <a:extLst>
              <a:ext uri="{FF2B5EF4-FFF2-40B4-BE49-F238E27FC236}">
                <a16:creationId xmlns:a16="http://schemas.microsoft.com/office/drawing/2014/main" id="{F6EE56CD-EEDE-CB94-70B3-7D313D441200}"/>
              </a:ext>
            </a:extLst>
          </p:cNvPr>
          <p:cNvSpPr txBox="1"/>
          <p:nvPr/>
        </p:nvSpPr>
        <p:spPr>
          <a:xfrm>
            <a:off x="7668451" y="13807440"/>
            <a:ext cx="2837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k.</a:t>
            </a:r>
          </a:p>
        </p:txBody>
      </p:sp>
      <p:sp>
        <p:nvSpPr>
          <p:cNvPr id="3093" name="TextBox 3092">
            <a:extLst>
              <a:ext uri="{FF2B5EF4-FFF2-40B4-BE49-F238E27FC236}">
                <a16:creationId xmlns:a16="http://schemas.microsoft.com/office/drawing/2014/main" id="{2E792B1E-6201-D418-3726-ED81C7452D71}"/>
              </a:ext>
            </a:extLst>
          </p:cNvPr>
          <p:cNvSpPr txBox="1"/>
          <p:nvPr/>
        </p:nvSpPr>
        <p:spPr>
          <a:xfrm>
            <a:off x="9730984" y="16069749"/>
            <a:ext cx="2187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Modularity</a:t>
            </a:r>
          </a:p>
        </p:txBody>
      </p:sp>
      <p:sp>
        <p:nvSpPr>
          <p:cNvPr id="3094" name="TextBox 3093">
            <a:extLst>
              <a:ext uri="{FF2B5EF4-FFF2-40B4-BE49-F238E27FC236}">
                <a16:creationId xmlns:a16="http://schemas.microsoft.com/office/drawing/2014/main" id="{DC7A6E04-3966-B822-54CF-CACD1B158AA3}"/>
              </a:ext>
            </a:extLst>
          </p:cNvPr>
          <p:cNvSpPr txBox="1"/>
          <p:nvPr/>
        </p:nvSpPr>
        <p:spPr>
          <a:xfrm rot="16200000">
            <a:off x="8904848" y="15059244"/>
            <a:ext cx="1491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Behavioral Score</a:t>
            </a:r>
          </a:p>
        </p:txBody>
      </p:sp>
      <p:sp>
        <p:nvSpPr>
          <p:cNvPr id="3095" name="TextBox 3094">
            <a:extLst>
              <a:ext uri="{FF2B5EF4-FFF2-40B4-BE49-F238E27FC236}">
                <a16:creationId xmlns:a16="http://schemas.microsoft.com/office/drawing/2014/main" id="{058678CD-FAF4-53EE-DA86-F7E89CEBE4B4}"/>
              </a:ext>
            </a:extLst>
          </p:cNvPr>
          <p:cNvSpPr txBox="1"/>
          <p:nvPr/>
        </p:nvSpPr>
        <p:spPr>
          <a:xfrm>
            <a:off x="4338475" y="13807440"/>
            <a:ext cx="2837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j.</a:t>
            </a:r>
          </a:p>
        </p:txBody>
      </p:sp>
      <p:sp>
        <p:nvSpPr>
          <p:cNvPr id="3098" name="TextBox 3097">
            <a:extLst>
              <a:ext uri="{FF2B5EF4-FFF2-40B4-BE49-F238E27FC236}">
                <a16:creationId xmlns:a16="http://schemas.microsoft.com/office/drawing/2014/main" id="{8F6FC822-5893-8D77-26C9-4E185F8681AC}"/>
              </a:ext>
            </a:extLst>
          </p:cNvPr>
          <p:cNvSpPr txBox="1"/>
          <p:nvPr/>
        </p:nvSpPr>
        <p:spPr>
          <a:xfrm>
            <a:off x="4361877" y="14448092"/>
            <a:ext cx="12172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Investigate the relationship between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high-amplitude</a:t>
            </a:r>
            <a:r>
              <a:rPr lang="en-US" sz="12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Helvetica" pitchFamily="2" charset="0"/>
              </a:rPr>
              <a:t>t</a:t>
            </a:r>
            <a:r>
              <a:rPr lang="en-US" sz="12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ime </a:t>
            </a:r>
            <a:r>
              <a:rPr lang="en-US" sz="1200" dirty="0">
                <a:solidFill>
                  <a:srgbClr val="000000"/>
                </a:solidFill>
                <a:latin typeface="Helvetica" pitchFamily="2" charset="0"/>
              </a:rPr>
              <a:t>f</a:t>
            </a:r>
            <a:r>
              <a:rPr lang="en-US" sz="12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rames and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centralit</a:t>
            </a:r>
            <a:r>
              <a:rPr lang="en-US" sz="1200" b="1" dirty="0">
                <a:solidFill>
                  <a:srgbClr val="000000"/>
                </a:solidFill>
                <a:latin typeface="Helvetica" pitchFamily="2" charset="0"/>
              </a:rPr>
              <a:t>y</a:t>
            </a:r>
            <a:r>
              <a:rPr lang="en-US" sz="12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in Mapper graphs</a:t>
            </a:r>
            <a:endParaRPr lang="en-US" sz="1200" dirty="0">
              <a:latin typeface="Helvetica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77CC1E-C4AD-8CFA-58C2-1C823C3F4F6A}"/>
              </a:ext>
            </a:extLst>
          </p:cNvPr>
          <p:cNvSpPr/>
          <p:nvPr/>
        </p:nvSpPr>
        <p:spPr>
          <a:xfrm>
            <a:off x="437441" y="407131"/>
            <a:ext cx="1135500" cy="1687269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77925A-91DC-D34C-5A89-BFF715FF6784}"/>
              </a:ext>
            </a:extLst>
          </p:cNvPr>
          <p:cNvSpPr/>
          <p:nvPr/>
        </p:nvSpPr>
        <p:spPr>
          <a:xfrm>
            <a:off x="1726979" y="407131"/>
            <a:ext cx="1135500" cy="1687269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A55CC7-D744-C697-599B-AB4C785A351C}"/>
              </a:ext>
            </a:extLst>
          </p:cNvPr>
          <p:cNvGrpSpPr/>
          <p:nvPr/>
        </p:nvGrpSpPr>
        <p:grpSpPr>
          <a:xfrm>
            <a:off x="470429" y="950928"/>
            <a:ext cx="1069523" cy="874395"/>
            <a:chOff x="451298" y="751233"/>
            <a:chExt cx="1069523" cy="874395"/>
          </a:xfrm>
        </p:grpSpPr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0345C2A6-C7E7-E7E6-BD4E-D6CA2597D1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98090" y="751233"/>
              <a:ext cx="582930" cy="582930"/>
            </a:xfrm>
            <a:prstGeom prst="rect">
              <a:avLst/>
            </a:prstGeom>
          </p:spPr>
        </p:pic>
        <p:pic>
          <p:nvPicPr>
            <p:cNvPr id="12" name="Graphic 11" descr="User with solid fill">
              <a:extLst>
                <a:ext uri="{FF2B5EF4-FFF2-40B4-BE49-F238E27FC236}">
                  <a16:creationId xmlns:a16="http://schemas.microsoft.com/office/drawing/2014/main" id="{28C86DDC-2064-D746-BC2B-1C702EDC23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451298" y="938137"/>
              <a:ext cx="582930" cy="582930"/>
            </a:xfrm>
            <a:prstGeom prst="rect">
              <a:avLst/>
            </a:prstGeom>
          </p:spPr>
        </p:pic>
        <p:pic>
          <p:nvPicPr>
            <p:cNvPr id="13" name="Graphic 12" descr="User with solid fill">
              <a:extLst>
                <a:ext uri="{FF2B5EF4-FFF2-40B4-BE49-F238E27FC236}">
                  <a16:creationId xmlns:a16="http://schemas.microsoft.com/office/drawing/2014/main" id="{4C908B8F-03E1-0858-226A-FC28F515F9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937891" y="938137"/>
              <a:ext cx="582930" cy="582930"/>
            </a:xfrm>
            <a:prstGeom prst="rect">
              <a:avLst/>
            </a:prstGeom>
          </p:spPr>
        </p:pic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F098F9EB-F081-D680-6961-E3DD5C8F6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91099" y="1042698"/>
              <a:ext cx="582930" cy="58293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0B18620-206B-0818-60B4-96C860C961D2}"/>
              </a:ext>
            </a:extLst>
          </p:cNvPr>
          <p:cNvGrpSpPr/>
          <p:nvPr/>
        </p:nvGrpSpPr>
        <p:grpSpPr>
          <a:xfrm>
            <a:off x="1759967" y="950928"/>
            <a:ext cx="1069523" cy="874395"/>
            <a:chOff x="451298" y="751233"/>
            <a:chExt cx="1069523" cy="874395"/>
          </a:xfrm>
        </p:grpSpPr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F376CD35-6502-3C0C-9C53-FD7D7CDF45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98090" y="751233"/>
              <a:ext cx="582930" cy="582930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B996DB06-6665-D20C-7214-8C1CE666DF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451298" y="938137"/>
              <a:ext cx="582930" cy="582930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7841CDCB-BB6F-0D09-05ED-A3A17B5329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937891" y="938137"/>
              <a:ext cx="582930" cy="582930"/>
            </a:xfrm>
            <a:prstGeom prst="rect">
              <a:avLst/>
            </a:prstGeom>
          </p:spPr>
        </p:pic>
        <p:pic>
          <p:nvPicPr>
            <p:cNvPr id="20" name="Graphic 19" descr="User with solid fill">
              <a:extLst>
                <a:ext uri="{FF2B5EF4-FFF2-40B4-BE49-F238E27FC236}">
                  <a16:creationId xmlns:a16="http://schemas.microsoft.com/office/drawing/2014/main" id="{5941A2BD-69F0-CC34-62C4-3E0DBD7E0D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91099" y="1042698"/>
              <a:ext cx="582930" cy="58293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BCBF17-58B7-1107-5E05-980257A2BA8B}"/>
              </a:ext>
            </a:extLst>
          </p:cNvPr>
          <p:cNvGrpSpPr/>
          <p:nvPr/>
        </p:nvGrpSpPr>
        <p:grpSpPr>
          <a:xfrm>
            <a:off x="3049505" y="950928"/>
            <a:ext cx="1069523" cy="874395"/>
            <a:chOff x="451298" y="751233"/>
            <a:chExt cx="1069523" cy="874395"/>
          </a:xfrm>
        </p:grpSpPr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B16F7FCB-2E6A-7828-011F-A6B63CA1E6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98090" y="751233"/>
              <a:ext cx="582930" cy="582930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C00643AB-3BA2-2F33-798B-4A06C34BFC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451298" y="938137"/>
              <a:ext cx="582930" cy="582930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4C5A25C2-65FE-3193-4938-C4172D34F1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937891" y="938137"/>
              <a:ext cx="582930" cy="582930"/>
            </a:xfrm>
            <a:prstGeom prst="rect">
              <a:avLst/>
            </a:prstGeom>
          </p:spPr>
        </p:pic>
        <p:pic>
          <p:nvPicPr>
            <p:cNvPr id="25" name="Graphic 24" descr="User with solid fill">
              <a:extLst>
                <a:ext uri="{FF2B5EF4-FFF2-40B4-BE49-F238E27FC236}">
                  <a16:creationId xmlns:a16="http://schemas.microsoft.com/office/drawing/2014/main" id="{7E0424F1-C844-12FD-AF0A-4DAEDBB050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91099" y="1042698"/>
              <a:ext cx="582930" cy="58293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A0C09AE-898E-88F4-DC72-AC578E867A39}"/>
              </a:ext>
            </a:extLst>
          </p:cNvPr>
          <p:cNvSpPr txBox="1"/>
          <p:nvPr/>
        </p:nvSpPr>
        <p:spPr>
          <a:xfrm>
            <a:off x="437441" y="1817401"/>
            <a:ext cx="1135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N </a:t>
            </a:r>
            <a:r>
              <a:rPr lang="en-US" sz="1200">
                <a:latin typeface="Helvetica" pitchFamily="2" charset="0"/>
              </a:rPr>
              <a:t>= 394</a:t>
            </a:r>
            <a:endParaRPr lang="en-US" sz="1200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415C04-C86B-90B3-EE1B-BF0DFD857020}"/>
              </a:ext>
            </a:extLst>
          </p:cNvPr>
          <p:cNvSpPr txBox="1"/>
          <p:nvPr/>
        </p:nvSpPr>
        <p:spPr>
          <a:xfrm>
            <a:off x="1730474" y="1817401"/>
            <a:ext cx="1135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N = 319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81900-91A6-EACA-A9B4-8D78384A9928}"/>
              </a:ext>
            </a:extLst>
          </p:cNvPr>
          <p:cNvSpPr txBox="1"/>
          <p:nvPr/>
        </p:nvSpPr>
        <p:spPr>
          <a:xfrm>
            <a:off x="3016517" y="1823045"/>
            <a:ext cx="1135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N = 968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A8243D-8A18-F178-D70C-53BEFAC79FEE}"/>
              </a:ext>
            </a:extLst>
          </p:cNvPr>
          <p:cNvSpPr txBox="1"/>
          <p:nvPr/>
        </p:nvSpPr>
        <p:spPr>
          <a:xfrm>
            <a:off x="437441" y="533761"/>
            <a:ext cx="1135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F2B7BE-C3B3-0362-7619-ED748BE88866}"/>
              </a:ext>
            </a:extLst>
          </p:cNvPr>
          <p:cNvSpPr txBox="1"/>
          <p:nvPr/>
        </p:nvSpPr>
        <p:spPr>
          <a:xfrm>
            <a:off x="1737465" y="538289"/>
            <a:ext cx="11320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1CF272-6869-1D6B-222D-406B968717C7}"/>
              </a:ext>
            </a:extLst>
          </p:cNvPr>
          <p:cNvSpPr txBox="1"/>
          <p:nvPr/>
        </p:nvSpPr>
        <p:spPr>
          <a:xfrm>
            <a:off x="3016516" y="540530"/>
            <a:ext cx="1135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Total Cohort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9C5E030-4EA9-B042-7229-D64225BB869A}"/>
              </a:ext>
            </a:extLst>
          </p:cNvPr>
          <p:cNvSpPr/>
          <p:nvPr/>
        </p:nvSpPr>
        <p:spPr>
          <a:xfrm>
            <a:off x="344686" y="325071"/>
            <a:ext cx="3921624" cy="1868936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80E0FCF-DC81-68AB-F790-78B52F8EFE60}"/>
              </a:ext>
            </a:extLst>
          </p:cNvPr>
          <p:cNvSpPr/>
          <p:nvPr/>
        </p:nvSpPr>
        <p:spPr>
          <a:xfrm>
            <a:off x="4911137" y="9335074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BF98496-1EE0-FAE7-A437-FA0B53A8AFFD}"/>
              </a:ext>
            </a:extLst>
          </p:cNvPr>
          <p:cNvSpPr/>
          <p:nvPr/>
        </p:nvSpPr>
        <p:spPr>
          <a:xfrm>
            <a:off x="4790001" y="9289465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919581B-9C42-285F-4CEA-DA80E9B3C1CC}"/>
              </a:ext>
            </a:extLst>
          </p:cNvPr>
          <p:cNvSpPr/>
          <p:nvPr/>
        </p:nvSpPr>
        <p:spPr>
          <a:xfrm>
            <a:off x="4955700" y="9061803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9FA5A63-99E8-C941-8032-97D4CB216B2E}"/>
              </a:ext>
            </a:extLst>
          </p:cNvPr>
          <p:cNvSpPr/>
          <p:nvPr/>
        </p:nvSpPr>
        <p:spPr>
          <a:xfrm>
            <a:off x="5597416" y="9262736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08F1D07-E6EE-F020-2F05-53770E9D1D75}"/>
              </a:ext>
            </a:extLst>
          </p:cNvPr>
          <p:cNvSpPr/>
          <p:nvPr/>
        </p:nvSpPr>
        <p:spPr>
          <a:xfrm>
            <a:off x="4482940" y="8922737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CB9B653-EB1D-3EAA-4836-E19F674C9057}"/>
              </a:ext>
            </a:extLst>
          </p:cNvPr>
          <p:cNvSpPr/>
          <p:nvPr/>
        </p:nvSpPr>
        <p:spPr>
          <a:xfrm>
            <a:off x="4576152" y="9055688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684EE66-54E1-31FB-1E08-F220F66C273A}"/>
              </a:ext>
            </a:extLst>
          </p:cNvPr>
          <p:cNvSpPr/>
          <p:nvPr/>
        </p:nvSpPr>
        <p:spPr>
          <a:xfrm>
            <a:off x="4924215" y="9185317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F9774D0-AF7F-EF67-95CA-622B53CC3ECF}"/>
              </a:ext>
            </a:extLst>
          </p:cNvPr>
          <p:cNvSpPr/>
          <p:nvPr/>
        </p:nvSpPr>
        <p:spPr>
          <a:xfrm>
            <a:off x="4743937" y="9094074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CF095A0-251E-4E7C-DBE5-2F7CBEC65228}"/>
              </a:ext>
            </a:extLst>
          </p:cNvPr>
          <p:cNvSpPr/>
          <p:nvPr/>
        </p:nvSpPr>
        <p:spPr>
          <a:xfrm>
            <a:off x="5181568" y="9380844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8255F3C-2367-16D5-93FD-8F1140DEEE24}"/>
              </a:ext>
            </a:extLst>
          </p:cNvPr>
          <p:cNvSpPr/>
          <p:nvPr/>
        </p:nvSpPr>
        <p:spPr>
          <a:xfrm>
            <a:off x="4654931" y="8914424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9F4CEB9-9DD7-E6BF-BA76-ECC891B6545D}"/>
              </a:ext>
            </a:extLst>
          </p:cNvPr>
          <p:cNvSpPr/>
          <p:nvPr/>
        </p:nvSpPr>
        <p:spPr>
          <a:xfrm>
            <a:off x="5252449" y="10294100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6" name="Oval 3135">
            <a:extLst>
              <a:ext uri="{FF2B5EF4-FFF2-40B4-BE49-F238E27FC236}">
                <a16:creationId xmlns:a16="http://schemas.microsoft.com/office/drawing/2014/main" id="{8C305EDE-F5E6-2324-F322-67223B253C25}"/>
              </a:ext>
            </a:extLst>
          </p:cNvPr>
          <p:cNvSpPr/>
          <p:nvPr/>
        </p:nvSpPr>
        <p:spPr>
          <a:xfrm>
            <a:off x="5024692" y="9348204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3" name="Oval 3162">
            <a:extLst>
              <a:ext uri="{FF2B5EF4-FFF2-40B4-BE49-F238E27FC236}">
                <a16:creationId xmlns:a16="http://schemas.microsoft.com/office/drawing/2014/main" id="{240F455F-2816-A658-7A21-15A509C112AF}"/>
              </a:ext>
            </a:extLst>
          </p:cNvPr>
          <p:cNvSpPr/>
          <p:nvPr/>
        </p:nvSpPr>
        <p:spPr>
          <a:xfrm>
            <a:off x="5232297" y="9591346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4" name="Oval 3163">
            <a:extLst>
              <a:ext uri="{FF2B5EF4-FFF2-40B4-BE49-F238E27FC236}">
                <a16:creationId xmlns:a16="http://schemas.microsoft.com/office/drawing/2014/main" id="{49C0BC53-1326-0039-C0F1-A1A1D3CC234F}"/>
              </a:ext>
            </a:extLst>
          </p:cNvPr>
          <p:cNvSpPr/>
          <p:nvPr/>
        </p:nvSpPr>
        <p:spPr>
          <a:xfrm>
            <a:off x="5099355" y="9485207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7" name="Oval 3166">
            <a:extLst>
              <a:ext uri="{FF2B5EF4-FFF2-40B4-BE49-F238E27FC236}">
                <a16:creationId xmlns:a16="http://schemas.microsoft.com/office/drawing/2014/main" id="{79746E2D-563D-860F-06BA-35CFADB0B25A}"/>
              </a:ext>
            </a:extLst>
          </p:cNvPr>
          <p:cNvSpPr/>
          <p:nvPr/>
        </p:nvSpPr>
        <p:spPr>
          <a:xfrm>
            <a:off x="5320211" y="9751526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9" name="Oval 3168">
            <a:extLst>
              <a:ext uri="{FF2B5EF4-FFF2-40B4-BE49-F238E27FC236}">
                <a16:creationId xmlns:a16="http://schemas.microsoft.com/office/drawing/2014/main" id="{E302732E-7BC4-252C-727B-F32DFAF4C294}"/>
              </a:ext>
            </a:extLst>
          </p:cNvPr>
          <p:cNvSpPr/>
          <p:nvPr/>
        </p:nvSpPr>
        <p:spPr>
          <a:xfrm>
            <a:off x="5191914" y="9789886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1" name="Oval 3170">
            <a:extLst>
              <a:ext uri="{FF2B5EF4-FFF2-40B4-BE49-F238E27FC236}">
                <a16:creationId xmlns:a16="http://schemas.microsoft.com/office/drawing/2014/main" id="{6C762C78-A1CB-A2F5-B9B4-3C0E7B21C7D1}"/>
              </a:ext>
            </a:extLst>
          </p:cNvPr>
          <p:cNvSpPr/>
          <p:nvPr/>
        </p:nvSpPr>
        <p:spPr>
          <a:xfrm>
            <a:off x="5350131" y="10166569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" name="Oval 3173">
            <a:extLst>
              <a:ext uri="{FF2B5EF4-FFF2-40B4-BE49-F238E27FC236}">
                <a16:creationId xmlns:a16="http://schemas.microsoft.com/office/drawing/2014/main" id="{8EB59FD9-4949-4310-8FC0-FF0C1DC3AFA2}"/>
              </a:ext>
            </a:extLst>
          </p:cNvPr>
          <p:cNvSpPr/>
          <p:nvPr/>
        </p:nvSpPr>
        <p:spPr>
          <a:xfrm>
            <a:off x="5169573" y="10126186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7" name="Oval 3176">
            <a:extLst>
              <a:ext uri="{FF2B5EF4-FFF2-40B4-BE49-F238E27FC236}">
                <a16:creationId xmlns:a16="http://schemas.microsoft.com/office/drawing/2014/main" id="{C2DDAFAD-7B2B-2599-CB40-D787EF16CAA4}"/>
              </a:ext>
            </a:extLst>
          </p:cNvPr>
          <p:cNvSpPr/>
          <p:nvPr/>
        </p:nvSpPr>
        <p:spPr>
          <a:xfrm>
            <a:off x="5272680" y="9971942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8" name="Oval 3177">
            <a:extLst>
              <a:ext uri="{FF2B5EF4-FFF2-40B4-BE49-F238E27FC236}">
                <a16:creationId xmlns:a16="http://schemas.microsoft.com/office/drawing/2014/main" id="{17D81140-799D-A042-DED7-305CFCFA5B42}"/>
              </a:ext>
            </a:extLst>
          </p:cNvPr>
          <p:cNvSpPr/>
          <p:nvPr/>
        </p:nvSpPr>
        <p:spPr>
          <a:xfrm>
            <a:off x="5320211" y="9457519"/>
            <a:ext cx="80766" cy="80766"/>
          </a:xfrm>
          <a:prstGeom prst="ellipse">
            <a:avLst/>
          </a:prstGeom>
          <a:solidFill>
            <a:srgbClr val="DE745F"/>
          </a:solidFill>
          <a:ln>
            <a:solidFill>
              <a:srgbClr val="DE745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9" name="Oval 3178">
            <a:extLst>
              <a:ext uri="{FF2B5EF4-FFF2-40B4-BE49-F238E27FC236}">
                <a16:creationId xmlns:a16="http://schemas.microsoft.com/office/drawing/2014/main" id="{1430FD30-E6BE-65DB-73EE-DBA1D0328A38}"/>
              </a:ext>
            </a:extLst>
          </p:cNvPr>
          <p:cNvSpPr/>
          <p:nvPr/>
        </p:nvSpPr>
        <p:spPr>
          <a:xfrm>
            <a:off x="5419147" y="9062231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0" name="Oval 3179">
            <a:extLst>
              <a:ext uri="{FF2B5EF4-FFF2-40B4-BE49-F238E27FC236}">
                <a16:creationId xmlns:a16="http://schemas.microsoft.com/office/drawing/2014/main" id="{1B4A7F12-9931-BD83-2BD3-7F05307B2711}"/>
              </a:ext>
            </a:extLst>
          </p:cNvPr>
          <p:cNvSpPr/>
          <p:nvPr/>
        </p:nvSpPr>
        <p:spPr>
          <a:xfrm>
            <a:off x="5564531" y="8802711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1" name="Oval 3180">
            <a:extLst>
              <a:ext uri="{FF2B5EF4-FFF2-40B4-BE49-F238E27FC236}">
                <a16:creationId xmlns:a16="http://schemas.microsoft.com/office/drawing/2014/main" id="{58B266F1-B1A7-D75A-66D0-0DA80E71934A}"/>
              </a:ext>
            </a:extLst>
          </p:cNvPr>
          <p:cNvSpPr/>
          <p:nvPr/>
        </p:nvSpPr>
        <p:spPr>
          <a:xfrm>
            <a:off x="5511465" y="9174840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2" name="Oval 3181">
            <a:extLst>
              <a:ext uri="{FF2B5EF4-FFF2-40B4-BE49-F238E27FC236}">
                <a16:creationId xmlns:a16="http://schemas.microsoft.com/office/drawing/2014/main" id="{C5085500-3E15-2F3F-D3DB-3883D949A449}"/>
              </a:ext>
            </a:extLst>
          </p:cNvPr>
          <p:cNvSpPr/>
          <p:nvPr/>
        </p:nvSpPr>
        <p:spPr>
          <a:xfrm>
            <a:off x="5762849" y="8939986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3" name="Oval 3182">
            <a:extLst>
              <a:ext uri="{FF2B5EF4-FFF2-40B4-BE49-F238E27FC236}">
                <a16:creationId xmlns:a16="http://schemas.microsoft.com/office/drawing/2014/main" id="{C0C8043C-D74F-9561-587D-8DA70A9125D4}"/>
              </a:ext>
            </a:extLst>
          </p:cNvPr>
          <p:cNvSpPr/>
          <p:nvPr/>
        </p:nvSpPr>
        <p:spPr>
          <a:xfrm>
            <a:off x="5736659" y="8776857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4" name="Oval 3183">
            <a:extLst>
              <a:ext uri="{FF2B5EF4-FFF2-40B4-BE49-F238E27FC236}">
                <a16:creationId xmlns:a16="http://schemas.microsoft.com/office/drawing/2014/main" id="{D34B0E0C-4BC4-33E3-2573-0C8132DC46C3}"/>
              </a:ext>
            </a:extLst>
          </p:cNvPr>
          <p:cNvSpPr/>
          <p:nvPr/>
        </p:nvSpPr>
        <p:spPr>
          <a:xfrm>
            <a:off x="5597416" y="9007952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5" name="Oval 3184">
            <a:extLst>
              <a:ext uri="{FF2B5EF4-FFF2-40B4-BE49-F238E27FC236}">
                <a16:creationId xmlns:a16="http://schemas.microsoft.com/office/drawing/2014/main" id="{DAC3EB18-13EB-A3B8-4CB4-0CA83ECF82EE}"/>
              </a:ext>
            </a:extLst>
          </p:cNvPr>
          <p:cNvSpPr/>
          <p:nvPr/>
        </p:nvSpPr>
        <p:spPr>
          <a:xfrm>
            <a:off x="5355932" y="9282156"/>
            <a:ext cx="80766" cy="80766"/>
          </a:xfrm>
          <a:prstGeom prst="ellipse">
            <a:avLst/>
          </a:prstGeom>
          <a:solidFill>
            <a:srgbClr val="E59B4B"/>
          </a:solidFill>
          <a:ln>
            <a:solidFill>
              <a:srgbClr val="E59B4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6" name="Oval 3185">
            <a:extLst>
              <a:ext uri="{FF2B5EF4-FFF2-40B4-BE49-F238E27FC236}">
                <a16:creationId xmlns:a16="http://schemas.microsoft.com/office/drawing/2014/main" id="{AC27C455-3FBF-268A-5553-1DE83F6C3313}"/>
              </a:ext>
            </a:extLst>
          </p:cNvPr>
          <p:cNvSpPr/>
          <p:nvPr/>
        </p:nvSpPr>
        <p:spPr>
          <a:xfrm>
            <a:off x="5487944" y="8649083"/>
            <a:ext cx="500861" cy="50086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7" name="Oval 3186">
            <a:extLst>
              <a:ext uri="{FF2B5EF4-FFF2-40B4-BE49-F238E27FC236}">
                <a16:creationId xmlns:a16="http://schemas.microsoft.com/office/drawing/2014/main" id="{1AAB06F4-F1C1-7304-A47C-2019A54AED52}"/>
              </a:ext>
            </a:extLst>
          </p:cNvPr>
          <p:cNvSpPr/>
          <p:nvPr/>
        </p:nvSpPr>
        <p:spPr>
          <a:xfrm>
            <a:off x="5276181" y="8943745"/>
            <a:ext cx="500861" cy="50086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8" name="Oval 3187">
            <a:extLst>
              <a:ext uri="{FF2B5EF4-FFF2-40B4-BE49-F238E27FC236}">
                <a16:creationId xmlns:a16="http://schemas.microsoft.com/office/drawing/2014/main" id="{03008A71-C1C9-AC72-FC7E-9CF7318724E9}"/>
              </a:ext>
            </a:extLst>
          </p:cNvPr>
          <p:cNvSpPr/>
          <p:nvPr/>
        </p:nvSpPr>
        <p:spPr>
          <a:xfrm>
            <a:off x="5011904" y="9194428"/>
            <a:ext cx="500861" cy="50086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9" name="Oval 3188">
            <a:extLst>
              <a:ext uri="{FF2B5EF4-FFF2-40B4-BE49-F238E27FC236}">
                <a16:creationId xmlns:a16="http://schemas.microsoft.com/office/drawing/2014/main" id="{65913DF7-A222-B5D6-2EC3-A108B63ACBA4}"/>
              </a:ext>
            </a:extLst>
          </p:cNvPr>
          <p:cNvSpPr/>
          <p:nvPr/>
        </p:nvSpPr>
        <p:spPr>
          <a:xfrm>
            <a:off x="5041515" y="9571111"/>
            <a:ext cx="500861" cy="50086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1" name="Oval 3190">
            <a:extLst>
              <a:ext uri="{FF2B5EF4-FFF2-40B4-BE49-F238E27FC236}">
                <a16:creationId xmlns:a16="http://schemas.microsoft.com/office/drawing/2014/main" id="{7C7E9B2C-0D31-3311-FD59-11818B4FAA40}"/>
              </a:ext>
            </a:extLst>
          </p:cNvPr>
          <p:cNvSpPr/>
          <p:nvPr/>
        </p:nvSpPr>
        <p:spPr>
          <a:xfrm>
            <a:off x="5069781" y="9954174"/>
            <a:ext cx="500861" cy="50086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2" name="Oval 3191">
            <a:extLst>
              <a:ext uri="{FF2B5EF4-FFF2-40B4-BE49-F238E27FC236}">
                <a16:creationId xmlns:a16="http://schemas.microsoft.com/office/drawing/2014/main" id="{065A6393-0D60-095C-29E2-EE6B59857AE3}"/>
              </a:ext>
            </a:extLst>
          </p:cNvPr>
          <p:cNvSpPr/>
          <p:nvPr/>
        </p:nvSpPr>
        <p:spPr>
          <a:xfrm>
            <a:off x="4679784" y="8997644"/>
            <a:ext cx="500861" cy="50086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3" name="Oval 3192">
            <a:extLst>
              <a:ext uri="{FF2B5EF4-FFF2-40B4-BE49-F238E27FC236}">
                <a16:creationId xmlns:a16="http://schemas.microsoft.com/office/drawing/2014/main" id="{B62762FD-41DB-A23C-DDF6-3E6DD4BA191A}"/>
              </a:ext>
            </a:extLst>
          </p:cNvPr>
          <p:cNvSpPr/>
          <p:nvPr/>
        </p:nvSpPr>
        <p:spPr>
          <a:xfrm>
            <a:off x="4404501" y="8776857"/>
            <a:ext cx="500861" cy="50086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4" name="Oval 3193">
            <a:extLst>
              <a:ext uri="{FF2B5EF4-FFF2-40B4-BE49-F238E27FC236}">
                <a16:creationId xmlns:a16="http://schemas.microsoft.com/office/drawing/2014/main" id="{EEC7F7CE-5D75-15AD-3937-636EA6135B8A}"/>
              </a:ext>
            </a:extLst>
          </p:cNvPr>
          <p:cNvSpPr/>
          <p:nvPr/>
        </p:nvSpPr>
        <p:spPr>
          <a:xfrm>
            <a:off x="5074272" y="9246479"/>
            <a:ext cx="80766" cy="80766"/>
          </a:xfrm>
          <a:prstGeom prst="ellipse">
            <a:avLst/>
          </a:prstGeom>
          <a:solidFill>
            <a:srgbClr val="609EF4"/>
          </a:solidFill>
          <a:ln>
            <a:solidFill>
              <a:srgbClr val="609EF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06" name="Curved Connector 3205">
            <a:extLst>
              <a:ext uri="{FF2B5EF4-FFF2-40B4-BE49-F238E27FC236}">
                <a16:creationId xmlns:a16="http://schemas.microsoft.com/office/drawing/2014/main" id="{C5CB56CB-9826-5997-A5CE-3B809C984D3B}"/>
              </a:ext>
            </a:extLst>
          </p:cNvPr>
          <p:cNvCxnSpPr>
            <a:cxnSpLocks/>
            <a:stCxn id="3193" idx="7"/>
            <a:endCxn id="1072" idx="1"/>
          </p:cNvCxnSpPr>
          <p:nvPr/>
        </p:nvCxnSpPr>
        <p:spPr>
          <a:xfrm rot="5400000" flipH="1" flipV="1">
            <a:off x="6863484" y="6809727"/>
            <a:ext cx="9009" cy="4071951"/>
          </a:xfrm>
          <a:prstGeom prst="curvedConnector3">
            <a:avLst>
              <a:gd name="adj1" fmla="val 540730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7" name="Curved Connector 3216">
            <a:extLst>
              <a:ext uri="{FF2B5EF4-FFF2-40B4-BE49-F238E27FC236}">
                <a16:creationId xmlns:a16="http://schemas.microsoft.com/office/drawing/2014/main" id="{1E542692-7385-9592-BEC2-4982B27E2536}"/>
              </a:ext>
            </a:extLst>
          </p:cNvPr>
          <p:cNvCxnSpPr>
            <a:cxnSpLocks/>
            <a:stCxn id="3177" idx="5"/>
          </p:cNvCxnSpPr>
          <p:nvPr/>
        </p:nvCxnSpPr>
        <p:spPr>
          <a:xfrm rot="16200000" flipH="1">
            <a:off x="7414586" y="7967911"/>
            <a:ext cx="133267" cy="427920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3" name="Curved Connector 3222">
            <a:extLst>
              <a:ext uri="{FF2B5EF4-FFF2-40B4-BE49-F238E27FC236}">
                <a16:creationId xmlns:a16="http://schemas.microsoft.com/office/drawing/2014/main" id="{12B8FD93-4A03-F5DB-4AC3-9CC5017AD678}"/>
              </a:ext>
            </a:extLst>
          </p:cNvPr>
          <p:cNvCxnSpPr>
            <a:cxnSpLocks/>
            <a:stCxn id="3242" idx="0"/>
            <a:endCxn id="49" idx="3"/>
          </p:cNvCxnSpPr>
          <p:nvPr/>
        </p:nvCxnSpPr>
        <p:spPr>
          <a:xfrm flipV="1">
            <a:off x="2841581" y="9358403"/>
            <a:ext cx="1960248" cy="3476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8" name="Individual frames where whole-brain activation was specific to task B">
            <a:extLst>
              <a:ext uri="{FF2B5EF4-FFF2-40B4-BE49-F238E27FC236}">
                <a16:creationId xmlns:a16="http://schemas.microsoft.com/office/drawing/2014/main" id="{155C8D27-DC4B-0705-781C-A9F46D9F9B47}"/>
              </a:ext>
            </a:extLst>
          </p:cNvPr>
          <p:cNvSpPr txBox="1"/>
          <p:nvPr/>
        </p:nvSpPr>
        <p:spPr>
          <a:xfrm>
            <a:off x="10003612" y="9011455"/>
            <a:ext cx="2188387" cy="1544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5742" tIns="15742" rIns="15742" bIns="15742" anchor="ctr"/>
          <a:lstStyle/>
          <a:p>
            <a:pPr defTabSz="639729">
              <a:defRPr sz="15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dirty="0">
                <a:solidFill>
                  <a:srgbClr val="000000"/>
                </a:solidFill>
                <a:latin typeface="Helvetica" pitchFamily="2" charset="0"/>
              </a:rPr>
              <a:t>Pie charts indicate the proportions of time frames from different tasks within the corresponding clusters. A uniform pie chart means similar </a:t>
            </a:r>
            <a:r>
              <a:rPr lang="en-US" sz="1200">
                <a:solidFill>
                  <a:srgbClr val="000000"/>
                </a:solidFill>
                <a:latin typeface="Helvetica" pitchFamily="2" charset="0"/>
              </a:rPr>
              <a:t>cofluctuations </a:t>
            </a:r>
            <a:r>
              <a:rPr lang="en-US" sz="1200" dirty="0">
                <a:solidFill>
                  <a:srgbClr val="000000"/>
                </a:solidFill>
                <a:latin typeface="Helvetica" pitchFamily="2" charset="0"/>
              </a:rPr>
              <a:t>from different tasks are clustered together.</a:t>
            </a:r>
            <a:endParaRPr sz="1200" dirty="0">
              <a:solidFill>
                <a:srgbClr val="E59B4B"/>
              </a:solidFill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98B1B3-2780-AC43-F9F2-37D82DE77E45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950801" y="11243745"/>
            <a:ext cx="2554556" cy="2554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803E5A-575B-9B3B-DB98-2874569365EA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640288" y="14413089"/>
            <a:ext cx="2225023" cy="1589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ACF78-E22C-07B2-F6A2-06D89639A21F}"/>
              </a:ext>
            </a:extLst>
          </p:cNvPr>
          <p:cNvSpPr txBox="1"/>
          <p:nvPr/>
        </p:nvSpPr>
        <p:spPr>
          <a:xfrm>
            <a:off x="1940205" y="15937257"/>
            <a:ext cx="1977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Node     Edge   Triangle</a:t>
            </a:r>
          </a:p>
        </p:txBody>
      </p:sp>
      <p:pic>
        <p:nvPicPr>
          <p:cNvPr id="3207" name="Picture 3206">
            <a:extLst>
              <a:ext uri="{FF2B5EF4-FFF2-40B4-BE49-F238E27FC236}">
                <a16:creationId xmlns:a16="http://schemas.microsoft.com/office/drawing/2014/main" id="{32EACE40-C060-E1B5-17B2-EFF150BEA3EC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630121" y="14420692"/>
            <a:ext cx="1864779" cy="1598382"/>
          </a:xfrm>
          <a:prstGeom prst="rect">
            <a:avLst/>
          </a:prstGeom>
        </p:spPr>
      </p:pic>
      <p:sp>
        <p:nvSpPr>
          <p:cNvPr id="3201" name="TextBox 3200">
            <a:extLst>
              <a:ext uri="{FF2B5EF4-FFF2-40B4-BE49-F238E27FC236}">
                <a16:creationId xmlns:a16="http://schemas.microsoft.com/office/drawing/2014/main" id="{8D7103C8-30AD-B684-B902-CC1B782B7554}"/>
              </a:ext>
            </a:extLst>
          </p:cNvPr>
          <p:cNvSpPr txBox="1"/>
          <p:nvPr/>
        </p:nvSpPr>
        <p:spPr>
          <a:xfrm>
            <a:off x="5620700" y="15883282"/>
            <a:ext cx="114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Peak-dense pure nodes</a:t>
            </a:r>
          </a:p>
        </p:txBody>
      </p:sp>
      <p:sp>
        <p:nvSpPr>
          <p:cNvPr id="3202" name="TextBox 3201">
            <a:extLst>
              <a:ext uri="{FF2B5EF4-FFF2-40B4-BE49-F238E27FC236}">
                <a16:creationId xmlns:a16="http://schemas.microsoft.com/office/drawing/2014/main" id="{F9CE4CF7-5A8D-A0A7-9969-DDC7DDCED0D2}"/>
              </a:ext>
            </a:extLst>
          </p:cNvPr>
          <p:cNvSpPr txBox="1"/>
          <p:nvPr/>
        </p:nvSpPr>
        <p:spPr>
          <a:xfrm>
            <a:off x="6556132" y="15894756"/>
            <a:ext cx="1133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All other </a:t>
            </a:r>
          </a:p>
          <a:p>
            <a:pPr algn="ctr"/>
            <a:r>
              <a:rPr lang="en-US" sz="1200" dirty="0">
                <a:latin typeface="Helvetica" pitchFamily="2" charset="0"/>
              </a:rPr>
              <a:t>Pure nodes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5CC68-D6A0-387A-7558-259AB3219C91}"/>
              </a:ext>
            </a:extLst>
          </p:cNvPr>
          <p:cNvSpPr/>
          <p:nvPr/>
        </p:nvSpPr>
        <p:spPr>
          <a:xfrm>
            <a:off x="11350948" y="11345366"/>
            <a:ext cx="173753" cy="2351314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tx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dividual frames where whole-brain activation was specific to task B">
            <a:extLst>
              <a:ext uri="{FF2B5EF4-FFF2-40B4-BE49-F238E27FC236}">
                <a16:creationId xmlns:a16="http://schemas.microsoft.com/office/drawing/2014/main" id="{148B6B74-9321-87A5-38E6-DBB1449B81DE}"/>
              </a:ext>
            </a:extLst>
          </p:cNvPr>
          <p:cNvSpPr txBox="1"/>
          <p:nvPr/>
        </p:nvSpPr>
        <p:spPr>
          <a:xfrm rot="16200000">
            <a:off x="10152217" y="12212889"/>
            <a:ext cx="1596562" cy="33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5742" tIns="15742" rIns="15742" bIns="15742" anchor="ctr"/>
          <a:lstStyle/>
          <a:p>
            <a:pPr defTabSz="639729">
              <a:defRPr sz="15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dirty="0">
                <a:solidFill>
                  <a:srgbClr val="000000"/>
                </a:solidFill>
                <a:latin typeface="Helvetica" pitchFamily="2" charset="0"/>
              </a:rPr>
              <a:t>Increasing centrality</a:t>
            </a:r>
            <a:endParaRPr sz="1200" dirty="0">
              <a:solidFill>
                <a:srgbClr val="E59B4B"/>
              </a:solidFill>
              <a:latin typeface="Helvetica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0EC261-A89A-C94E-CB3B-277951BAE78A}"/>
              </a:ext>
            </a:extLst>
          </p:cNvPr>
          <p:cNvCxnSpPr>
            <a:cxnSpLocks/>
          </p:cNvCxnSpPr>
          <p:nvPr/>
        </p:nvCxnSpPr>
        <p:spPr>
          <a:xfrm flipV="1">
            <a:off x="11143762" y="11342914"/>
            <a:ext cx="0" cy="23404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2829EF-4E70-F011-0409-522903857606}"/>
              </a:ext>
            </a:extLst>
          </p:cNvPr>
          <p:cNvSpPr txBox="1"/>
          <p:nvPr/>
        </p:nvSpPr>
        <p:spPr>
          <a:xfrm>
            <a:off x="7157782" y="169699"/>
            <a:ext cx="2685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Tasks are concatenated.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20C4CA-26B3-8594-0622-AD7E59C22538}"/>
              </a:ext>
            </a:extLst>
          </p:cNvPr>
          <p:cNvSpPr txBox="1"/>
          <p:nvPr/>
        </p:nvSpPr>
        <p:spPr>
          <a:xfrm rot="16200000">
            <a:off x="-1052622" y="5160638"/>
            <a:ext cx="2826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Input to Mapper Algorithm</a:t>
            </a:r>
          </a:p>
        </p:txBody>
      </p:sp>
      <p:sp>
        <p:nvSpPr>
          <p:cNvPr id="3195" name="TextBox 3194">
            <a:extLst>
              <a:ext uri="{FF2B5EF4-FFF2-40B4-BE49-F238E27FC236}">
                <a16:creationId xmlns:a16="http://schemas.microsoft.com/office/drawing/2014/main" id="{44962270-3479-44D7-622C-51F8BA546AAF}"/>
              </a:ext>
            </a:extLst>
          </p:cNvPr>
          <p:cNvSpPr txBox="1"/>
          <p:nvPr/>
        </p:nvSpPr>
        <p:spPr>
          <a:xfrm>
            <a:off x="2572218" y="7696581"/>
            <a:ext cx="1424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T x R matrix</a:t>
            </a:r>
          </a:p>
        </p:txBody>
      </p:sp>
      <p:sp>
        <p:nvSpPr>
          <p:cNvPr id="3198" name="TextBox 3197">
            <a:extLst>
              <a:ext uri="{FF2B5EF4-FFF2-40B4-BE49-F238E27FC236}">
                <a16:creationId xmlns:a16="http://schemas.microsoft.com/office/drawing/2014/main" id="{2D092FDD-D7C0-F0C3-F239-2F87CAF5BFB9}"/>
              </a:ext>
            </a:extLst>
          </p:cNvPr>
          <p:cNvSpPr txBox="1"/>
          <p:nvPr/>
        </p:nvSpPr>
        <p:spPr>
          <a:xfrm>
            <a:off x="5922748" y="7656916"/>
            <a:ext cx="205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T x (~ R</a:t>
            </a:r>
            <a:r>
              <a:rPr lang="en-US" baseline="30000" dirty="0">
                <a:latin typeface="Helvetica" pitchFamily="2" charset="0"/>
              </a:rPr>
              <a:t>2</a:t>
            </a:r>
            <a:r>
              <a:rPr lang="en-US" dirty="0">
                <a:latin typeface="Helvetica" pitchFamily="2" charset="0"/>
              </a:rPr>
              <a:t>/2) matrix</a:t>
            </a:r>
          </a:p>
        </p:txBody>
      </p:sp>
      <p:sp>
        <p:nvSpPr>
          <p:cNvPr id="3199" name="TextBox 3198">
            <a:extLst>
              <a:ext uri="{FF2B5EF4-FFF2-40B4-BE49-F238E27FC236}">
                <a16:creationId xmlns:a16="http://schemas.microsoft.com/office/drawing/2014/main" id="{8F0BFDC8-55C7-70F1-265B-51DFA01AD2F5}"/>
              </a:ext>
            </a:extLst>
          </p:cNvPr>
          <p:cNvSpPr txBox="1"/>
          <p:nvPr/>
        </p:nvSpPr>
        <p:spPr>
          <a:xfrm>
            <a:off x="9785602" y="7656916"/>
            <a:ext cx="205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T x (~ R</a:t>
            </a:r>
            <a:r>
              <a:rPr lang="en-US" baseline="30000" dirty="0">
                <a:latin typeface="Helvetica" pitchFamily="2" charset="0"/>
              </a:rPr>
              <a:t>3</a:t>
            </a:r>
            <a:r>
              <a:rPr lang="en-US" dirty="0">
                <a:latin typeface="Helvetica" pitchFamily="2" charset="0"/>
              </a:rPr>
              <a:t>/6) matrix</a:t>
            </a:r>
          </a:p>
        </p:txBody>
      </p:sp>
    </p:spTree>
    <p:extLst>
      <p:ext uri="{BB962C8B-B14F-4D97-AF65-F5344CB8AC3E}">
        <p14:creationId xmlns:p14="http://schemas.microsoft.com/office/powerpoint/2010/main" val="1302942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9360</TotalTime>
  <Words>336</Words>
  <Application>Microsoft Macintosh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37</cp:revision>
  <dcterms:created xsi:type="dcterms:W3CDTF">2025-05-28T22:06:49Z</dcterms:created>
  <dcterms:modified xsi:type="dcterms:W3CDTF">2026-07-09T23:20:55Z</dcterms:modified>
</cp:coreProperties>
</file>