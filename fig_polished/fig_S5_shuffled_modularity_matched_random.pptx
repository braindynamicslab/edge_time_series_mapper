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67" r:id="rId2"/>
  </p:sldIdLst>
  <p:sldSz cx="14017625" cy="594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C9DEEB"/>
    <a:srgbClr val="D07A64"/>
    <a:srgbClr val="DA9F5A"/>
    <a:srgbClr val="6F9DEE"/>
    <a:srgbClr val="F3DE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15"/>
    <p:restoredTop sz="94589"/>
  </p:normalViewPr>
  <p:slideViewPr>
    <p:cSldViewPr snapToGrid="0">
      <p:cViewPr varScale="1">
        <p:scale>
          <a:sx n="93" d="100"/>
          <a:sy n="93" d="100"/>
        </p:scale>
        <p:origin x="224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2203" y="972715"/>
            <a:ext cx="10513219" cy="2069253"/>
          </a:xfrm>
        </p:spPr>
        <p:txBody>
          <a:bodyPr anchor="b"/>
          <a:lstStyle>
            <a:lvl1pPr algn="ctr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2203" y="3121766"/>
            <a:ext cx="10513219" cy="1434994"/>
          </a:xfrm>
        </p:spPr>
        <p:txBody>
          <a:bodyPr/>
          <a:lstStyle>
            <a:lvl1pPr marL="0" indent="0" algn="ctr">
              <a:buNone/>
              <a:defRPr sz="2080"/>
            </a:lvl1pPr>
            <a:lvl2pPr marL="396255" indent="0" algn="ctr">
              <a:buNone/>
              <a:defRPr sz="1733"/>
            </a:lvl2pPr>
            <a:lvl3pPr marL="792510" indent="0" algn="ctr">
              <a:buNone/>
              <a:defRPr sz="1560"/>
            </a:lvl3pPr>
            <a:lvl4pPr marL="1188766" indent="0" algn="ctr">
              <a:buNone/>
              <a:defRPr sz="1387"/>
            </a:lvl4pPr>
            <a:lvl5pPr marL="1585021" indent="0" algn="ctr">
              <a:buNone/>
              <a:defRPr sz="1387"/>
            </a:lvl5pPr>
            <a:lvl6pPr marL="1981276" indent="0" algn="ctr">
              <a:buNone/>
              <a:defRPr sz="1387"/>
            </a:lvl6pPr>
            <a:lvl7pPr marL="2377531" indent="0" algn="ctr">
              <a:buNone/>
              <a:defRPr sz="1387"/>
            </a:lvl7pPr>
            <a:lvl8pPr marL="2773787" indent="0" algn="ctr">
              <a:buNone/>
              <a:defRPr sz="1387"/>
            </a:lvl8pPr>
            <a:lvl9pPr marL="3170042" indent="0" algn="ctr">
              <a:buNone/>
              <a:defRPr sz="138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3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9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411" y="1481773"/>
            <a:ext cx="12090202" cy="2472372"/>
          </a:xfrm>
        </p:spPr>
        <p:txBody>
          <a:bodyPr anchor="b"/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6411" y="3977535"/>
            <a:ext cx="12090202" cy="1300162"/>
          </a:xfrm>
        </p:spPr>
        <p:txBody>
          <a:bodyPr/>
          <a:lstStyle>
            <a:lvl1pPr marL="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1pPr>
            <a:lvl2pPr marL="396255" indent="0">
              <a:buNone/>
              <a:defRPr sz="1733">
                <a:solidFill>
                  <a:schemeClr val="tx1">
                    <a:tint val="82000"/>
                  </a:schemeClr>
                </a:solidFill>
              </a:defRPr>
            </a:lvl2pPr>
            <a:lvl3pPr marL="792510" indent="0">
              <a:buNone/>
              <a:defRPr sz="1560">
                <a:solidFill>
                  <a:schemeClr val="tx1">
                    <a:tint val="82000"/>
                  </a:schemeClr>
                </a:solidFill>
              </a:defRPr>
            </a:lvl3pPr>
            <a:lvl4pPr marL="1188766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4pPr>
            <a:lvl5pPr marL="1585021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5pPr>
            <a:lvl6pPr marL="1981276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6pPr>
            <a:lvl7pPr marL="2377531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7pPr>
            <a:lvl8pPr marL="2773787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8pPr>
            <a:lvl9pPr marL="3170042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73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3712" y="1582208"/>
            <a:ext cx="5957491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96422" y="1582208"/>
            <a:ext cx="5957491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549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537" y="316442"/>
            <a:ext cx="12090202" cy="1148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5538" y="1457008"/>
            <a:ext cx="5930112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5538" y="2171065"/>
            <a:ext cx="5930112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96423" y="1457008"/>
            <a:ext cx="5959316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96423" y="2171065"/>
            <a:ext cx="5959316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048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796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097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538" y="396240"/>
            <a:ext cx="4521049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9316" y="855769"/>
            <a:ext cx="7096423" cy="4223808"/>
          </a:xfrm>
        </p:spPr>
        <p:txBody>
          <a:bodyPr/>
          <a:lstStyle>
            <a:lvl1pPr>
              <a:defRPr sz="2773"/>
            </a:lvl1pPr>
            <a:lvl2pPr>
              <a:defRPr sz="2427"/>
            </a:lvl2pPr>
            <a:lvl3pPr>
              <a:defRPr sz="208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5538" y="1783080"/>
            <a:ext cx="4521049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61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538" y="396240"/>
            <a:ext cx="4521049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59316" y="855769"/>
            <a:ext cx="7096423" cy="4223808"/>
          </a:xfrm>
        </p:spPr>
        <p:txBody>
          <a:bodyPr anchor="t"/>
          <a:lstStyle>
            <a:lvl1pPr marL="0" indent="0">
              <a:buNone/>
              <a:defRPr sz="2773"/>
            </a:lvl1pPr>
            <a:lvl2pPr marL="396255" indent="0">
              <a:buNone/>
              <a:defRPr sz="2427"/>
            </a:lvl2pPr>
            <a:lvl3pPr marL="792510" indent="0">
              <a:buNone/>
              <a:defRPr sz="2080"/>
            </a:lvl3pPr>
            <a:lvl4pPr marL="1188766" indent="0">
              <a:buNone/>
              <a:defRPr sz="1733"/>
            </a:lvl4pPr>
            <a:lvl5pPr marL="1585021" indent="0">
              <a:buNone/>
              <a:defRPr sz="1733"/>
            </a:lvl5pPr>
            <a:lvl6pPr marL="1981276" indent="0">
              <a:buNone/>
              <a:defRPr sz="1733"/>
            </a:lvl6pPr>
            <a:lvl7pPr marL="2377531" indent="0">
              <a:buNone/>
              <a:defRPr sz="1733"/>
            </a:lvl7pPr>
            <a:lvl8pPr marL="2773787" indent="0">
              <a:buNone/>
              <a:defRPr sz="1733"/>
            </a:lvl8pPr>
            <a:lvl9pPr marL="3170042" indent="0">
              <a:buNone/>
              <a:defRPr sz="17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5538" y="1783080"/>
            <a:ext cx="4521049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286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466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31363" y="316442"/>
            <a:ext cx="3022550" cy="50369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3712" y="316442"/>
            <a:ext cx="8892431" cy="50369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178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3712" y="316442"/>
            <a:ext cx="12090202" cy="1148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712" y="1582208"/>
            <a:ext cx="12090202" cy="377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3712" y="5508837"/>
            <a:ext cx="3153966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E9168E-4C56-124A-84B8-BB4F32161F3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3339" y="5508837"/>
            <a:ext cx="4730948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9947" y="5508837"/>
            <a:ext cx="3153966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1C9F0-AD8E-064E-85AD-D78945568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302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792510" rtl="0" eaLnBrk="1" latinLnBrk="0" hangingPunct="1">
        <a:lnSpc>
          <a:spcPct val="90000"/>
        </a:lnSpc>
        <a:spcBef>
          <a:spcPct val="0"/>
        </a:spcBef>
        <a:buNone/>
        <a:defRPr sz="38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128" indent="-198128" algn="l" defTabSz="79251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2427" kern="1200">
          <a:solidFill>
            <a:schemeClr val="tx1"/>
          </a:solidFill>
          <a:latin typeface="+mn-lt"/>
          <a:ea typeface="+mn-ea"/>
          <a:cs typeface="+mn-cs"/>
        </a:defRPr>
      </a:lvl1pPr>
      <a:lvl2pPr marL="59438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80" kern="1200">
          <a:solidFill>
            <a:schemeClr val="tx1"/>
          </a:solidFill>
          <a:latin typeface="+mn-lt"/>
          <a:ea typeface="+mn-ea"/>
          <a:cs typeface="+mn-cs"/>
        </a:defRPr>
      </a:lvl2pPr>
      <a:lvl3pPr marL="990638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3pPr>
      <a:lvl4pPr marL="138689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78314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217940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57565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97191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368170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1pPr>
      <a:lvl2pPr marL="396255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9251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6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58502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198127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37753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773787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170042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CAB8DC54-85C9-6E18-40BB-3D4BBB6FB6A0}"/>
              </a:ext>
            </a:extLst>
          </p:cNvPr>
          <p:cNvSpPr txBox="1"/>
          <p:nvPr/>
        </p:nvSpPr>
        <p:spPr>
          <a:xfrm>
            <a:off x="8170461" y="0"/>
            <a:ext cx="3146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d. Change in the quality of modularity</a:t>
            </a:r>
            <a:br>
              <a:rPr lang="en-US" sz="1200" b="1" dirty="0">
                <a:latin typeface="Helvetica" pitchFamily="2" charset="0"/>
              </a:rPr>
            </a:br>
            <a:r>
              <a:rPr lang="en-US" sz="1200" b="1" dirty="0">
                <a:latin typeface="Helvetica" pitchFamily="2" charset="0"/>
              </a:rPr>
              <a:t>shuffling peak-dense nodes </a:t>
            </a:r>
            <a:r>
              <a:rPr lang="en-US" sz="1200" b="1" dirty="0" err="1">
                <a:latin typeface="Helvetica" pitchFamily="2" charset="0"/>
              </a:rPr>
              <a:t>v.s</a:t>
            </a:r>
            <a:r>
              <a:rPr lang="en-US" sz="1200" b="1" dirty="0">
                <a:latin typeface="Helvetica" pitchFamily="2" charset="0"/>
              </a:rPr>
              <a:t>. matched number of random pure nodes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EE1BCA-6C2A-CBAB-3B18-3EC8252FAA7A}"/>
              </a:ext>
            </a:extLst>
          </p:cNvPr>
          <p:cNvSpPr txBox="1"/>
          <p:nvPr/>
        </p:nvSpPr>
        <p:spPr>
          <a:xfrm>
            <a:off x="1065911" y="184667"/>
            <a:ext cx="2236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Node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D8A82D-A217-5912-B5DB-62C5B5C15F55}"/>
              </a:ext>
            </a:extLst>
          </p:cNvPr>
          <p:cNvSpPr txBox="1"/>
          <p:nvPr/>
        </p:nvSpPr>
        <p:spPr>
          <a:xfrm>
            <a:off x="3400176" y="184667"/>
            <a:ext cx="2279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Edge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EA4DBC-0142-814B-2FF9-2CA90543526E}"/>
              </a:ext>
            </a:extLst>
          </p:cNvPr>
          <p:cNvSpPr txBox="1"/>
          <p:nvPr/>
        </p:nvSpPr>
        <p:spPr>
          <a:xfrm>
            <a:off x="5774879" y="184667"/>
            <a:ext cx="2279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Triangle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040DDB-F939-A3FD-7EC0-BEE40FF87F43}"/>
              </a:ext>
            </a:extLst>
          </p:cNvPr>
          <p:cNvSpPr txBox="1"/>
          <p:nvPr/>
        </p:nvSpPr>
        <p:spPr>
          <a:xfrm rot="16200000">
            <a:off x="-874270" y="1483100"/>
            <a:ext cx="21716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Exploration Cohort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B3832E-253F-C22F-C04E-CB6AAC33D5F4}"/>
              </a:ext>
            </a:extLst>
          </p:cNvPr>
          <p:cNvSpPr txBox="1"/>
          <p:nvPr/>
        </p:nvSpPr>
        <p:spPr>
          <a:xfrm rot="16200000">
            <a:off x="-896415" y="4263393"/>
            <a:ext cx="2171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Replication Cohort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F0073B-3D0B-4E00-7C68-369064864D3E}"/>
              </a:ext>
            </a:extLst>
          </p:cNvPr>
          <p:cNvSpPr txBox="1"/>
          <p:nvPr/>
        </p:nvSpPr>
        <p:spPr>
          <a:xfrm>
            <a:off x="708591" y="184668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a.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2E3346-7C45-75C8-E561-AE63C4973E11}"/>
              </a:ext>
            </a:extLst>
          </p:cNvPr>
          <p:cNvSpPr txBox="1"/>
          <p:nvPr/>
        </p:nvSpPr>
        <p:spPr>
          <a:xfrm>
            <a:off x="3242427" y="184668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b.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8A35EC-AE7D-1163-3630-346653DC82C6}"/>
              </a:ext>
            </a:extLst>
          </p:cNvPr>
          <p:cNvSpPr txBox="1"/>
          <p:nvPr/>
        </p:nvSpPr>
        <p:spPr>
          <a:xfrm>
            <a:off x="5636622" y="170167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c.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3B7D2D-CA3B-543D-B82A-CB714CFE9233}"/>
              </a:ext>
            </a:extLst>
          </p:cNvPr>
          <p:cNvSpPr txBox="1"/>
          <p:nvPr/>
        </p:nvSpPr>
        <p:spPr>
          <a:xfrm>
            <a:off x="11160263" y="184667"/>
            <a:ext cx="2873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e. Within-task closeness centrality of nodes in edge Mapper graphs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64E3D5-8A4A-DA07-23A3-31A14FECF672}"/>
              </a:ext>
            </a:extLst>
          </p:cNvPr>
          <p:cNvSpPr txBox="1"/>
          <p:nvPr/>
        </p:nvSpPr>
        <p:spPr>
          <a:xfrm>
            <a:off x="708591" y="3162894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f.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5ECF5D-AF43-9C4B-F08E-AE2146181AA3}"/>
              </a:ext>
            </a:extLst>
          </p:cNvPr>
          <p:cNvSpPr txBox="1"/>
          <p:nvPr/>
        </p:nvSpPr>
        <p:spPr>
          <a:xfrm>
            <a:off x="3242427" y="3162894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g.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A53A19-C15C-53F8-5182-12C3ED375FC3}"/>
              </a:ext>
            </a:extLst>
          </p:cNvPr>
          <p:cNvSpPr txBox="1"/>
          <p:nvPr/>
        </p:nvSpPr>
        <p:spPr>
          <a:xfrm>
            <a:off x="5636622" y="3162894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h.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16D9CF-9877-47B6-CBEC-EB293BF909A7}"/>
              </a:ext>
            </a:extLst>
          </p:cNvPr>
          <p:cNvSpPr txBox="1"/>
          <p:nvPr/>
        </p:nvSpPr>
        <p:spPr>
          <a:xfrm>
            <a:off x="8434691" y="3162893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Helvetica" pitchFamily="2" charset="0"/>
              </a:rPr>
              <a:t>i</a:t>
            </a:r>
            <a:r>
              <a:rPr lang="en-US" sz="1200" b="1" dirty="0">
                <a:latin typeface="Helvetica" pitchFamily="2" charset="0"/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5D7F01-1113-0B6F-FCAC-F7BA54DEF5BD}"/>
              </a:ext>
            </a:extLst>
          </p:cNvPr>
          <p:cNvSpPr txBox="1"/>
          <p:nvPr/>
        </p:nvSpPr>
        <p:spPr>
          <a:xfrm>
            <a:off x="11327119" y="3162893"/>
            <a:ext cx="655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j.</a:t>
            </a:r>
          </a:p>
        </p:txBody>
      </p:sp>
      <p:pic>
        <p:nvPicPr>
          <p:cNvPr id="5" name="Picture 4" descr="A diagram of a number of blue and black objects&#10;&#10;AI-generated content may be incorrect.">
            <a:extLst>
              <a:ext uri="{FF2B5EF4-FFF2-40B4-BE49-F238E27FC236}">
                <a16:creationId xmlns:a16="http://schemas.microsoft.com/office/drawing/2014/main" id="{33A3B24D-4AEE-23AA-3CEA-5A8EC5C503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06"/>
          <a:stretch>
            <a:fillRect/>
          </a:stretch>
        </p:blipFill>
        <p:spPr>
          <a:xfrm>
            <a:off x="3279674" y="754183"/>
            <a:ext cx="2394329" cy="2331720"/>
          </a:xfrm>
          <a:prstGeom prst="rect">
            <a:avLst/>
          </a:prstGeom>
        </p:spPr>
      </p:pic>
      <p:pic>
        <p:nvPicPr>
          <p:cNvPr id="8" name="Picture 7" descr="A diagram of a number of blue and black objects&#10;&#10;AI-generated content may be incorrect.">
            <a:extLst>
              <a:ext uri="{FF2B5EF4-FFF2-40B4-BE49-F238E27FC236}">
                <a16:creationId xmlns:a16="http://schemas.microsoft.com/office/drawing/2014/main" id="{35B87F1F-3BD3-9F25-5D61-E0A1CFA3D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54183"/>
            <a:ext cx="2909492" cy="2331720"/>
          </a:xfrm>
          <a:prstGeom prst="rect">
            <a:avLst/>
          </a:prstGeom>
        </p:spPr>
      </p:pic>
      <p:pic>
        <p:nvPicPr>
          <p:cNvPr id="12" name="Picture 11" descr="A diagram of a number of blue and black objects&#10;&#10;AI-generated content may be incorrect.">
            <a:extLst>
              <a:ext uri="{FF2B5EF4-FFF2-40B4-BE49-F238E27FC236}">
                <a16:creationId xmlns:a16="http://schemas.microsoft.com/office/drawing/2014/main" id="{568638AE-6390-B94A-4A5A-96412651F6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706"/>
          <a:stretch>
            <a:fillRect/>
          </a:stretch>
        </p:blipFill>
        <p:spPr>
          <a:xfrm>
            <a:off x="5724146" y="754183"/>
            <a:ext cx="2394329" cy="2331720"/>
          </a:xfrm>
          <a:prstGeom prst="rect">
            <a:avLst/>
          </a:prstGeom>
        </p:spPr>
      </p:pic>
      <p:pic>
        <p:nvPicPr>
          <p:cNvPr id="16" name="Picture 15" descr="A diagram of a number of blue and black objects&#10;&#10;AI-generated content may be incorrect.">
            <a:extLst>
              <a:ext uri="{FF2B5EF4-FFF2-40B4-BE49-F238E27FC236}">
                <a16:creationId xmlns:a16="http://schemas.microsoft.com/office/drawing/2014/main" id="{B442E7A5-CE5F-D4C7-9AA8-E45A8893D11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706"/>
          <a:stretch>
            <a:fillRect/>
          </a:stretch>
        </p:blipFill>
        <p:spPr>
          <a:xfrm>
            <a:off x="3279674" y="3516880"/>
            <a:ext cx="2394329" cy="2331720"/>
          </a:xfrm>
          <a:prstGeom prst="rect">
            <a:avLst/>
          </a:prstGeom>
        </p:spPr>
      </p:pic>
      <p:pic>
        <p:nvPicPr>
          <p:cNvPr id="20" name="Picture 19" descr="A diagram of a number of blue and black objects&#10;&#10;AI-generated content may be incorrect.">
            <a:extLst>
              <a:ext uri="{FF2B5EF4-FFF2-40B4-BE49-F238E27FC236}">
                <a16:creationId xmlns:a16="http://schemas.microsoft.com/office/drawing/2014/main" id="{00F6F0E3-010D-FC40-886D-210BCF16B8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516880"/>
            <a:ext cx="2909492" cy="2331720"/>
          </a:xfrm>
          <a:prstGeom prst="rect">
            <a:avLst/>
          </a:prstGeom>
        </p:spPr>
      </p:pic>
      <p:pic>
        <p:nvPicPr>
          <p:cNvPr id="24" name="Picture 23" descr="A diagram of a number of blue and black objects&#10;&#10;AI-generated content may be incorrect.">
            <a:extLst>
              <a:ext uri="{FF2B5EF4-FFF2-40B4-BE49-F238E27FC236}">
                <a16:creationId xmlns:a16="http://schemas.microsoft.com/office/drawing/2014/main" id="{816CF271-D781-1E25-F8FC-D56169E5580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706"/>
          <a:stretch>
            <a:fillRect/>
          </a:stretch>
        </p:blipFill>
        <p:spPr>
          <a:xfrm>
            <a:off x="5724146" y="3516880"/>
            <a:ext cx="2394329" cy="2331720"/>
          </a:xfrm>
          <a:prstGeom prst="rect">
            <a:avLst/>
          </a:prstGeom>
        </p:spPr>
      </p:pic>
      <p:pic>
        <p:nvPicPr>
          <p:cNvPr id="48" name="Picture 47" descr="A diagram of a diagram&#10;&#10;AI-generated content may be incorrect.">
            <a:extLst>
              <a:ext uri="{FF2B5EF4-FFF2-40B4-BE49-F238E27FC236}">
                <a16:creationId xmlns:a16="http://schemas.microsoft.com/office/drawing/2014/main" id="{8AB8C872-4477-C230-A62A-5E7680536E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8615" y="754183"/>
            <a:ext cx="2909492" cy="2331720"/>
          </a:xfrm>
          <a:prstGeom prst="rect">
            <a:avLst/>
          </a:prstGeom>
        </p:spPr>
      </p:pic>
      <p:pic>
        <p:nvPicPr>
          <p:cNvPr id="50" name="Picture 49" descr="A diagram of a diagram&#10;&#10;AI-generated content may be incorrect.">
            <a:extLst>
              <a:ext uri="{FF2B5EF4-FFF2-40B4-BE49-F238E27FC236}">
                <a16:creationId xmlns:a16="http://schemas.microsoft.com/office/drawing/2014/main" id="{8EF57458-27F3-7BD2-1ADE-0CC6BA1F70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8615" y="3516880"/>
            <a:ext cx="2909492" cy="2331720"/>
          </a:xfrm>
          <a:prstGeom prst="rect">
            <a:avLst/>
          </a:prstGeom>
        </p:spPr>
      </p:pic>
      <p:pic>
        <p:nvPicPr>
          <p:cNvPr id="54" name="Picture 53" descr="A diagram of a graph&#10;&#10;AI-generated content may be incorrect.">
            <a:extLst>
              <a:ext uri="{FF2B5EF4-FFF2-40B4-BE49-F238E27FC236}">
                <a16:creationId xmlns:a16="http://schemas.microsoft.com/office/drawing/2014/main" id="{3F2CD72E-11BA-34F2-8A25-0E00680E07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8247" y="754183"/>
            <a:ext cx="2909492" cy="2331720"/>
          </a:xfrm>
          <a:prstGeom prst="rect">
            <a:avLst/>
          </a:prstGeom>
        </p:spPr>
      </p:pic>
      <p:pic>
        <p:nvPicPr>
          <p:cNvPr id="56" name="Picture 55" descr="A diagram of a graph&#10;&#10;AI-generated content may be incorrect.">
            <a:extLst>
              <a:ext uri="{FF2B5EF4-FFF2-40B4-BE49-F238E27FC236}">
                <a16:creationId xmlns:a16="http://schemas.microsoft.com/office/drawing/2014/main" id="{D1CF5928-C8BA-2FBB-59EC-FC764A88718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28247" y="3516880"/>
            <a:ext cx="2909492" cy="233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686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15471</TotalTime>
  <Words>56</Words>
  <Application>Microsoft Macintosh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Saad Tariq Pirzada</dc:creator>
  <cp:lastModifiedBy>Chun Yin Siu</cp:lastModifiedBy>
  <cp:revision>26</cp:revision>
  <dcterms:created xsi:type="dcterms:W3CDTF">2026-01-26T04:15:52Z</dcterms:created>
  <dcterms:modified xsi:type="dcterms:W3CDTF">2026-04-13T01:41:51Z</dcterms:modified>
</cp:coreProperties>
</file>