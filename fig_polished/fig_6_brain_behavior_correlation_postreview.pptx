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notesMasterIdLst>
    <p:notesMasterId r:id="rId3"/>
  </p:notesMasterIdLst>
  <p:sldIdLst>
    <p:sldId id="261" r:id="rId2"/>
  </p:sldIdLst>
  <p:sldSz cx="105156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A4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03"/>
    <p:restoredTop sz="94589"/>
  </p:normalViewPr>
  <p:slideViewPr>
    <p:cSldViewPr snapToGrid="0">
      <p:cViewPr>
        <p:scale>
          <a:sx n="98" d="100"/>
          <a:sy n="98" d="100"/>
        </p:scale>
        <p:origin x="2592" y="-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734C7-62C3-6645-81B6-9D52AAA4DAF4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55763" y="1143000"/>
            <a:ext cx="354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EE016-840A-FC4B-BD29-C6A67BF44A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7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F02C9-E537-3689-29C0-270A54F5B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573DA-236A-61D2-9D83-6D654C3DB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55763" y="1143000"/>
            <a:ext cx="35464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51589-3349-5F33-547F-141F42010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ABA52-31A7-AF0B-276E-5DB56CB02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EE016-840A-FC4B-BD29-C6A67BF44A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46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96484"/>
            <a:ext cx="8938260" cy="3183467"/>
          </a:xfrm>
        </p:spPr>
        <p:txBody>
          <a:bodyPr anchor="b"/>
          <a:lstStyle>
            <a:lvl1pPr algn="ctr">
              <a:defRPr sz="6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4450" y="4802717"/>
            <a:ext cx="7886700" cy="2207683"/>
          </a:xfrm>
        </p:spPr>
        <p:txBody>
          <a:bodyPr/>
          <a:lstStyle>
            <a:lvl1pPr marL="0" indent="0" algn="ctr">
              <a:buNone/>
              <a:defRPr sz="2760"/>
            </a:lvl1pPr>
            <a:lvl2pPr marL="525780" indent="0" algn="ctr">
              <a:buNone/>
              <a:defRPr sz="2300"/>
            </a:lvl2pPr>
            <a:lvl3pPr marL="1051560" indent="0" algn="ctr">
              <a:buNone/>
              <a:defRPr sz="2070"/>
            </a:lvl3pPr>
            <a:lvl4pPr marL="1577340" indent="0" algn="ctr">
              <a:buNone/>
              <a:defRPr sz="1840"/>
            </a:lvl4pPr>
            <a:lvl5pPr marL="2103120" indent="0" algn="ctr">
              <a:buNone/>
              <a:defRPr sz="1840"/>
            </a:lvl5pPr>
            <a:lvl6pPr marL="2628900" indent="0" algn="ctr">
              <a:buNone/>
              <a:defRPr sz="1840"/>
            </a:lvl6pPr>
            <a:lvl7pPr marL="3154680" indent="0" algn="ctr">
              <a:buNone/>
              <a:defRPr sz="1840"/>
            </a:lvl7pPr>
            <a:lvl8pPr marL="3680460" indent="0" algn="ctr">
              <a:buNone/>
              <a:defRPr sz="1840"/>
            </a:lvl8pPr>
            <a:lvl9pPr marL="4206240" indent="0" algn="ctr">
              <a:buNone/>
              <a:defRPr sz="1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29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285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471" y="2279653"/>
            <a:ext cx="9069705" cy="3803649"/>
          </a:xfrm>
        </p:spPr>
        <p:txBody>
          <a:bodyPr anchor="b"/>
          <a:lstStyle>
            <a:lvl1pPr>
              <a:defRPr sz="6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471" y="6119286"/>
            <a:ext cx="9069705" cy="2000249"/>
          </a:xfrm>
        </p:spPr>
        <p:txBody>
          <a:bodyPr/>
          <a:lstStyle>
            <a:lvl1pPr marL="0" indent="0">
              <a:buNone/>
              <a:defRPr sz="2760">
                <a:solidFill>
                  <a:schemeClr val="tx1">
                    <a:tint val="82000"/>
                  </a:schemeClr>
                </a:solidFill>
              </a:defRPr>
            </a:lvl1pPr>
            <a:lvl2pPr marL="525780" indent="0">
              <a:buNone/>
              <a:defRPr sz="2300">
                <a:solidFill>
                  <a:schemeClr val="tx1">
                    <a:tint val="82000"/>
                  </a:schemeClr>
                </a:solidFill>
              </a:defRPr>
            </a:lvl2pPr>
            <a:lvl3pPr marL="1051560" indent="0">
              <a:buNone/>
              <a:defRPr sz="2070">
                <a:solidFill>
                  <a:schemeClr val="tx1">
                    <a:tint val="82000"/>
                  </a:schemeClr>
                </a:solidFill>
              </a:defRPr>
            </a:lvl3pPr>
            <a:lvl4pPr marL="1577340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4pPr>
            <a:lvl5pPr marL="2103120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5pPr>
            <a:lvl6pPr marL="2628900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6pPr>
            <a:lvl7pPr marL="3154680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7pPr>
            <a:lvl8pPr marL="3680460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8pPr>
            <a:lvl9pPr marL="4206240" indent="0">
              <a:buNone/>
              <a:defRPr sz="1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2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2948" y="2434167"/>
            <a:ext cx="446913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23523" y="2434167"/>
            <a:ext cx="446913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98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17" y="486835"/>
            <a:ext cx="906970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4318" y="2241551"/>
            <a:ext cx="4448591" cy="1098549"/>
          </a:xfrm>
        </p:spPr>
        <p:txBody>
          <a:bodyPr anchor="b"/>
          <a:lstStyle>
            <a:lvl1pPr marL="0" indent="0">
              <a:buNone/>
              <a:defRPr sz="2760" b="1"/>
            </a:lvl1pPr>
            <a:lvl2pPr marL="525780" indent="0">
              <a:buNone/>
              <a:defRPr sz="2300" b="1"/>
            </a:lvl2pPr>
            <a:lvl3pPr marL="1051560" indent="0">
              <a:buNone/>
              <a:defRPr sz="2070" b="1"/>
            </a:lvl3pPr>
            <a:lvl4pPr marL="1577340" indent="0">
              <a:buNone/>
              <a:defRPr sz="1840" b="1"/>
            </a:lvl4pPr>
            <a:lvl5pPr marL="2103120" indent="0">
              <a:buNone/>
              <a:defRPr sz="1840" b="1"/>
            </a:lvl5pPr>
            <a:lvl6pPr marL="2628900" indent="0">
              <a:buNone/>
              <a:defRPr sz="1840" b="1"/>
            </a:lvl6pPr>
            <a:lvl7pPr marL="3154680" indent="0">
              <a:buNone/>
              <a:defRPr sz="1840" b="1"/>
            </a:lvl7pPr>
            <a:lvl8pPr marL="3680460" indent="0">
              <a:buNone/>
              <a:defRPr sz="1840" b="1"/>
            </a:lvl8pPr>
            <a:lvl9pPr marL="4206240" indent="0">
              <a:buNone/>
              <a:defRPr sz="1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4318" y="3340100"/>
            <a:ext cx="444859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23523" y="2241551"/>
            <a:ext cx="4470500" cy="1098549"/>
          </a:xfrm>
        </p:spPr>
        <p:txBody>
          <a:bodyPr anchor="b"/>
          <a:lstStyle>
            <a:lvl1pPr marL="0" indent="0">
              <a:buNone/>
              <a:defRPr sz="2760" b="1"/>
            </a:lvl1pPr>
            <a:lvl2pPr marL="525780" indent="0">
              <a:buNone/>
              <a:defRPr sz="2300" b="1"/>
            </a:lvl2pPr>
            <a:lvl3pPr marL="1051560" indent="0">
              <a:buNone/>
              <a:defRPr sz="2070" b="1"/>
            </a:lvl3pPr>
            <a:lvl4pPr marL="1577340" indent="0">
              <a:buNone/>
              <a:defRPr sz="1840" b="1"/>
            </a:lvl4pPr>
            <a:lvl5pPr marL="2103120" indent="0">
              <a:buNone/>
              <a:defRPr sz="1840" b="1"/>
            </a:lvl5pPr>
            <a:lvl6pPr marL="2628900" indent="0">
              <a:buNone/>
              <a:defRPr sz="1840" b="1"/>
            </a:lvl6pPr>
            <a:lvl7pPr marL="3154680" indent="0">
              <a:buNone/>
              <a:defRPr sz="1840" b="1"/>
            </a:lvl7pPr>
            <a:lvl8pPr marL="3680460" indent="0">
              <a:buNone/>
              <a:defRPr sz="1840" b="1"/>
            </a:lvl8pPr>
            <a:lvl9pPr marL="4206240" indent="0">
              <a:buNone/>
              <a:defRPr sz="1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23523" y="3340100"/>
            <a:ext cx="447050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2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36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68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17" y="609600"/>
            <a:ext cx="3391555" cy="2133600"/>
          </a:xfrm>
        </p:spPr>
        <p:txBody>
          <a:bodyPr anchor="b"/>
          <a:lstStyle>
            <a:lvl1pPr>
              <a:defRPr sz="3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0499" y="1316568"/>
            <a:ext cx="5323523" cy="6498167"/>
          </a:xfrm>
        </p:spPr>
        <p:txBody>
          <a:bodyPr/>
          <a:lstStyle>
            <a:lvl1pPr>
              <a:defRPr sz="3680"/>
            </a:lvl1pPr>
            <a:lvl2pPr>
              <a:defRPr sz="3220"/>
            </a:lvl2pPr>
            <a:lvl3pPr>
              <a:defRPr sz="276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4317" y="2743200"/>
            <a:ext cx="3391555" cy="5082117"/>
          </a:xfrm>
        </p:spPr>
        <p:txBody>
          <a:bodyPr/>
          <a:lstStyle>
            <a:lvl1pPr marL="0" indent="0">
              <a:buNone/>
              <a:defRPr sz="1840"/>
            </a:lvl1pPr>
            <a:lvl2pPr marL="525780" indent="0">
              <a:buNone/>
              <a:defRPr sz="1610"/>
            </a:lvl2pPr>
            <a:lvl3pPr marL="1051560" indent="0">
              <a:buNone/>
              <a:defRPr sz="1380"/>
            </a:lvl3pPr>
            <a:lvl4pPr marL="1577340" indent="0">
              <a:buNone/>
              <a:defRPr sz="1150"/>
            </a:lvl4pPr>
            <a:lvl5pPr marL="2103120" indent="0">
              <a:buNone/>
              <a:defRPr sz="1150"/>
            </a:lvl5pPr>
            <a:lvl6pPr marL="2628900" indent="0">
              <a:buNone/>
              <a:defRPr sz="1150"/>
            </a:lvl6pPr>
            <a:lvl7pPr marL="3154680" indent="0">
              <a:buNone/>
              <a:defRPr sz="1150"/>
            </a:lvl7pPr>
            <a:lvl8pPr marL="3680460" indent="0">
              <a:buNone/>
              <a:defRPr sz="1150"/>
            </a:lvl8pPr>
            <a:lvl9pPr marL="4206240" indent="0">
              <a:buNone/>
              <a:defRPr sz="1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01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17" y="609600"/>
            <a:ext cx="3391555" cy="2133600"/>
          </a:xfrm>
        </p:spPr>
        <p:txBody>
          <a:bodyPr anchor="b"/>
          <a:lstStyle>
            <a:lvl1pPr>
              <a:defRPr sz="3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0499" y="1316568"/>
            <a:ext cx="5323523" cy="6498167"/>
          </a:xfrm>
        </p:spPr>
        <p:txBody>
          <a:bodyPr anchor="t"/>
          <a:lstStyle>
            <a:lvl1pPr marL="0" indent="0">
              <a:buNone/>
              <a:defRPr sz="3680"/>
            </a:lvl1pPr>
            <a:lvl2pPr marL="525780" indent="0">
              <a:buNone/>
              <a:defRPr sz="3220"/>
            </a:lvl2pPr>
            <a:lvl3pPr marL="1051560" indent="0">
              <a:buNone/>
              <a:defRPr sz="2760"/>
            </a:lvl3pPr>
            <a:lvl4pPr marL="1577340" indent="0">
              <a:buNone/>
              <a:defRPr sz="2300"/>
            </a:lvl4pPr>
            <a:lvl5pPr marL="2103120" indent="0">
              <a:buNone/>
              <a:defRPr sz="2300"/>
            </a:lvl5pPr>
            <a:lvl6pPr marL="2628900" indent="0">
              <a:buNone/>
              <a:defRPr sz="2300"/>
            </a:lvl6pPr>
            <a:lvl7pPr marL="3154680" indent="0">
              <a:buNone/>
              <a:defRPr sz="2300"/>
            </a:lvl7pPr>
            <a:lvl8pPr marL="3680460" indent="0">
              <a:buNone/>
              <a:defRPr sz="2300"/>
            </a:lvl8pPr>
            <a:lvl9pPr marL="4206240" indent="0">
              <a:buNone/>
              <a:defRPr sz="2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4317" y="2743200"/>
            <a:ext cx="3391555" cy="5082117"/>
          </a:xfrm>
        </p:spPr>
        <p:txBody>
          <a:bodyPr/>
          <a:lstStyle>
            <a:lvl1pPr marL="0" indent="0">
              <a:buNone/>
              <a:defRPr sz="1840"/>
            </a:lvl1pPr>
            <a:lvl2pPr marL="525780" indent="0">
              <a:buNone/>
              <a:defRPr sz="1610"/>
            </a:lvl2pPr>
            <a:lvl3pPr marL="1051560" indent="0">
              <a:buNone/>
              <a:defRPr sz="1380"/>
            </a:lvl3pPr>
            <a:lvl4pPr marL="1577340" indent="0">
              <a:buNone/>
              <a:defRPr sz="1150"/>
            </a:lvl4pPr>
            <a:lvl5pPr marL="2103120" indent="0">
              <a:buNone/>
              <a:defRPr sz="1150"/>
            </a:lvl5pPr>
            <a:lvl6pPr marL="2628900" indent="0">
              <a:buNone/>
              <a:defRPr sz="1150"/>
            </a:lvl6pPr>
            <a:lvl7pPr marL="3154680" indent="0">
              <a:buNone/>
              <a:defRPr sz="1150"/>
            </a:lvl7pPr>
            <a:lvl8pPr marL="3680460" indent="0">
              <a:buNone/>
              <a:defRPr sz="1150"/>
            </a:lvl8pPr>
            <a:lvl9pPr marL="4206240" indent="0">
              <a:buNone/>
              <a:defRPr sz="1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83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08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25227" y="486833"/>
            <a:ext cx="226742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2948" y="486833"/>
            <a:ext cx="667083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9E9A2-8A25-3F40-91C0-3E603CEBBE9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55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2948" y="486835"/>
            <a:ext cx="906970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948" y="2434167"/>
            <a:ext cx="906970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2947" y="8475136"/>
            <a:ext cx="236601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59E9A2-8A25-3F40-91C0-3E603CEBBE9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3293" y="8475136"/>
            <a:ext cx="354901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6643" y="8475136"/>
            <a:ext cx="236601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5EF36-7A44-B44E-A83F-3E3CFE2FED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81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1051560" rtl="0" eaLnBrk="1" latinLnBrk="0" hangingPunct="1">
        <a:lnSpc>
          <a:spcPct val="90000"/>
        </a:lnSpc>
        <a:spcBef>
          <a:spcPct val="0"/>
        </a:spcBef>
        <a:buNone/>
        <a:defRPr sz="50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2890" indent="-262890" algn="l" defTabSz="1051560" rtl="0" eaLnBrk="1" latinLnBrk="0" hangingPunct="1">
        <a:lnSpc>
          <a:spcPct val="90000"/>
        </a:lnSpc>
        <a:spcBef>
          <a:spcPts val="1150"/>
        </a:spcBef>
        <a:buFont typeface="Arial" panose="020B0604020202020204" pitchFamily="34" charset="0"/>
        <a:buChar char="•"/>
        <a:defRPr sz="3220" kern="1200">
          <a:solidFill>
            <a:schemeClr val="tx1"/>
          </a:solidFill>
          <a:latin typeface="+mn-lt"/>
          <a:ea typeface="+mn-ea"/>
          <a:cs typeface="+mn-cs"/>
        </a:defRPr>
      </a:lvl1pPr>
      <a:lvl2pPr marL="78867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760" kern="1200">
          <a:solidFill>
            <a:schemeClr val="tx1"/>
          </a:solidFill>
          <a:latin typeface="+mn-lt"/>
          <a:ea typeface="+mn-ea"/>
          <a:cs typeface="+mn-cs"/>
        </a:defRPr>
      </a:lvl2pPr>
      <a:lvl3pPr marL="131445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4023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4pPr>
      <a:lvl5pPr marL="236601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5pPr>
      <a:lvl6pPr marL="289179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6pPr>
      <a:lvl7pPr marL="341757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7pPr>
      <a:lvl8pPr marL="394335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8pPr>
      <a:lvl9pPr marL="4469130" indent="-262890" algn="l" defTabSz="1051560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20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1pPr>
      <a:lvl2pPr marL="52578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2pPr>
      <a:lvl3pPr marL="105156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3pPr>
      <a:lvl4pPr marL="157734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4pPr>
      <a:lvl5pPr marL="210312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5pPr>
      <a:lvl6pPr marL="262890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6pPr>
      <a:lvl7pPr marL="315468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7pPr>
      <a:lvl8pPr marL="368046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8pPr>
      <a:lvl9pPr marL="4206240" algn="l" defTabSz="1051560" rtl="0" eaLnBrk="1" latinLnBrk="0" hangingPunct="1">
        <a:defRPr sz="20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425B6-B9C2-ED75-6802-D0923A0B1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AA57989-E173-B51F-4A89-1082442338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2" t="5590"/>
          <a:stretch>
            <a:fillRect/>
          </a:stretch>
        </p:blipFill>
        <p:spPr>
          <a:xfrm>
            <a:off x="7130295" y="4455783"/>
            <a:ext cx="3351852" cy="3666998"/>
          </a:xfrm>
          <a:prstGeom prst="rect">
            <a:avLst/>
          </a:prstGeom>
        </p:spPr>
      </p:pic>
      <p:pic>
        <p:nvPicPr>
          <p:cNvPr id="116" name="Picture 115" descr="A graph of a graph with black dots&#10;&#10;AI-generated content may be incorrect.">
            <a:extLst>
              <a:ext uri="{FF2B5EF4-FFF2-40B4-BE49-F238E27FC236}">
                <a16:creationId xmlns:a16="http://schemas.microsoft.com/office/drawing/2014/main" id="{4CF25924-D44C-8D73-555E-C992DA9253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45"/>
          <a:stretch>
            <a:fillRect/>
          </a:stretch>
        </p:blipFill>
        <p:spPr>
          <a:xfrm>
            <a:off x="110154" y="4452970"/>
            <a:ext cx="3374521" cy="36762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58E542-893D-EDA7-E762-857AA52B7873}"/>
              </a:ext>
            </a:extLst>
          </p:cNvPr>
          <p:cNvSpPr txBox="1"/>
          <p:nvPr/>
        </p:nvSpPr>
        <p:spPr>
          <a:xfrm>
            <a:off x="1301704" y="89211"/>
            <a:ext cx="1766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a. Conscientiousness</a:t>
            </a:r>
            <a:br>
              <a:rPr lang="en-US" sz="1200" b="1" dirty="0">
                <a:latin typeface="Helvetica" pitchFamily="2" charset="0"/>
              </a:rPr>
            </a:br>
            <a:r>
              <a:rPr lang="en-US" sz="1200" b="1" dirty="0">
                <a:latin typeface="Helvetica" pitchFamily="2" charset="0"/>
              </a:rPr>
              <a:t>Total Cohort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FE7B5C-1517-4D61-86BE-6B98952F5674}"/>
              </a:ext>
            </a:extLst>
          </p:cNvPr>
          <p:cNvSpPr txBox="1"/>
          <p:nvPr/>
        </p:nvSpPr>
        <p:spPr>
          <a:xfrm>
            <a:off x="4293038" y="89211"/>
            <a:ext cx="1959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b. Internalizing Behavior</a:t>
            </a:r>
            <a:br>
              <a:rPr lang="en-US" sz="1200" b="1" dirty="0">
                <a:latin typeface="Helvetica" pitchFamily="2" charset="0"/>
              </a:rPr>
            </a:br>
            <a:r>
              <a:rPr lang="en-US" sz="1200" b="1" dirty="0">
                <a:latin typeface="Helvetica" pitchFamily="2" charset="0"/>
              </a:rPr>
              <a:t>Total Cohort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90AEA5-C25A-B8AB-3033-DDCE8D309635}"/>
              </a:ext>
            </a:extLst>
          </p:cNvPr>
          <p:cNvSpPr txBox="1"/>
          <p:nvPr/>
        </p:nvSpPr>
        <p:spPr>
          <a:xfrm>
            <a:off x="7872036" y="89211"/>
            <a:ext cx="2015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c. Externalizing Behavior</a:t>
            </a:r>
            <a:br>
              <a:rPr lang="en-US" sz="1200" b="1" dirty="0">
                <a:latin typeface="Helvetica" pitchFamily="2" charset="0"/>
              </a:rPr>
            </a:br>
            <a:r>
              <a:rPr lang="en-US" sz="1200" b="1" dirty="0">
                <a:latin typeface="Helvetica" pitchFamily="2" charset="0"/>
              </a:rPr>
              <a:t>Total Cohort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C57FB9-A0FD-E39B-BA22-7279C97DC196}"/>
              </a:ext>
            </a:extLst>
          </p:cNvPr>
          <p:cNvSpPr txBox="1"/>
          <p:nvPr/>
        </p:nvSpPr>
        <p:spPr>
          <a:xfrm>
            <a:off x="1687750" y="3631702"/>
            <a:ext cx="15263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d. </a:t>
            </a:r>
            <a:r>
              <a:rPr lang="en-US" sz="1000" b="1" dirty="0">
                <a:latin typeface="Helvetica" pitchFamily="2" charset="0"/>
              </a:rPr>
              <a:t>Exploration Cohort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BD9C9C-D1D5-E2A0-AACD-F23BA8D320DB}"/>
              </a:ext>
            </a:extLst>
          </p:cNvPr>
          <p:cNvSpPr txBox="1"/>
          <p:nvPr/>
        </p:nvSpPr>
        <p:spPr>
          <a:xfrm>
            <a:off x="7505366" y="3631702"/>
            <a:ext cx="28286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f. </a:t>
            </a:r>
            <a:r>
              <a:rPr lang="en-US" sz="1000" b="1" dirty="0">
                <a:latin typeface="Helvetica" pitchFamily="2" charset="0"/>
              </a:rPr>
              <a:t>Total Cohort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24DB84-FB7F-DF8D-E748-143A9182B3B1}"/>
              </a:ext>
            </a:extLst>
          </p:cNvPr>
          <p:cNvSpPr txBox="1"/>
          <p:nvPr/>
        </p:nvSpPr>
        <p:spPr>
          <a:xfrm>
            <a:off x="7482272" y="4152653"/>
            <a:ext cx="8162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Personality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5525D4-C986-DF23-8162-AB9FB78C997D}"/>
              </a:ext>
            </a:extLst>
          </p:cNvPr>
          <p:cNvSpPr txBox="1"/>
          <p:nvPr/>
        </p:nvSpPr>
        <p:spPr>
          <a:xfrm>
            <a:off x="2160815" y="8315733"/>
            <a:ext cx="337452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No covariate control</a:t>
            </a:r>
          </a:p>
          <a:p>
            <a:r>
              <a:rPr lang="en-US" sz="1000" dirty="0">
                <a:latin typeface="Helvetica" pitchFamily="2" charset="0"/>
              </a:rPr>
              <a:t>Mean head motion and family (if applicable) controlled</a:t>
            </a:r>
          </a:p>
          <a:p>
            <a:r>
              <a:rPr lang="en-US" sz="1000" dirty="0">
                <a:latin typeface="Helvetica" pitchFamily="2" charset="0"/>
              </a:rPr>
              <a:t>Significance (uncorrected)</a:t>
            </a:r>
          </a:p>
          <a:p>
            <a:r>
              <a:rPr lang="en-US" sz="1000" dirty="0">
                <a:latin typeface="Helvetica" pitchFamily="2" charset="0"/>
              </a:rPr>
              <a:t>Significance under FDR correction</a:t>
            </a:r>
          </a:p>
          <a:p>
            <a:endParaRPr lang="en-US" sz="1000" dirty="0">
              <a:latin typeface="Helvetica" pitchFamily="2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97E954E-A779-EF77-9A8C-A9B19DB5802D}"/>
              </a:ext>
            </a:extLst>
          </p:cNvPr>
          <p:cNvSpPr/>
          <p:nvPr/>
        </p:nvSpPr>
        <p:spPr>
          <a:xfrm>
            <a:off x="2118289" y="8417157"/>
            <a:ext cx="68576" cy="6857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61B64DB-21B0-4268-22B5-85FB4B758875}"/>
              </a:ext>
            </a:extLst>
          </p:cNvPr>
          <p:cNvSpPr/>
          <p:nvPr/>
        </p:nvSpPr>
        <p:spPr>
          <a:xfrm>
            <a:off x="2119887" y="8558345"/>
            <a:ext cx="66978" cy="6697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23F2FF-EB14-EACB-6ED2-CA6091AA9F64}"/>
              </a:ext>
            </a:extLst>
          </p:cNvPr>
          <p:cNvSpPr txBox="1"/>
          <p:nvPr/>
        </p:nvSpPr>
        <p:spPr>
          <a:xfrm>
            <a:off x="1985463" y="8091576"/>
            <a:ext cx="19012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Legend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EEAA7C-44E0-0F51-CC6E-ADBF61056F10}"/>
              </a:ext>
            </a:extLst>
          </p:cNvPr>
          <p:cNvSpPr txBox="1"/>
          <p:nvPr/>
        </p:nvSpPr>
        <p:spPr>
          <a:xfrm>
            <a:off x="8574919" y="4133722"/>
            <a:ext cx="1689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Behavioral symptom scale</a:t>
            </a:r>
          </a:p>
        </p:txBody>
      </p:sp>
      <p:pic>
        <p:nvPicPr>
          <p:cNvPr id="10" name="Picture 9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22F085A6-E6E3-3B15-0E09-8ED76DCDA0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858"/>
          <a:stretch>
            <a:fillRect/>
          </a:stretch>
        </p:blipFill>
        <p:spPr>
          <a:xfrm>
            <a:off x="7164018" y="556704"/>
            <a:ext cx="3048000" cy="2808498"/>
          </a:xfrm>
          <a:prstGeom prst="rect">
            <a:avLst/>
          </a:prstGeom>
        </p:spPr>
      </p:pic>
      <p:pic>
        <p:nvPicPr>
          <p:cNvPr id="36" name="Picture 35" descr="A diagram of a graph&#10;&#10;AI-generated content may be incorrect.">
            <a:extLst>
              <a:ext uri="{FF2B5EF4-FFF2-40B4-BE49-F238E27FC236}">
                <a16:creationId xmlns:a16="http://schemas.microsoft.com/office/drawing/2014/main" id="{88D1E0B5-5BE3-FAE7-68AA-D38FCF9C487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965"/>
          <a:stretch>
            <a:fillRect/>
          </a:stretch>
        </p:blipFill>
        <p:spPr>
          <a:xfrm>
            <a:off x="3705817" y="559964"/>
            <a:ext cx="3048000" cy="2805237"/>
          </a:xfrm>
          <a:prstGeom prst="rect">
            <a:avLst/>
          </a:prstGeom>
        </p:spPr>
      </p:pic>
      <p:pic>
        <p:nvPicPr>
          <p:cNvPr id="54" name="Picture 53" descr="A graph with a line and a blue line&#10;&#10;AI-generated content may be incorrect.">
            <a:extLst>
              <a:ext uri="{FF2B5EF4-FFF2-40B4-BE49-F238E27FC236}">
                <a16:creationId xmlns:a16="http://schemas.microsoft.com/office/drawing/2014/main" id="{56A3B2E2-4D88-264B-87EF-1359DEDCB51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965"/>
          <a:stretch>
            <a:fillRect/>
          </a:stretch>
        </p:blipFill>
        <p:spPr>
          <a:xfrm>
            <a:off x="411605" y="559964"/>
            <a:ext cx="3048000" cy="28052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CB8B99-A9EC-3F2D-FF74-EA463B495CB2}"/>
              </a:ext>
            </a:extLst>
          </p:cNvPr>
          <p:cNvSpPr txBox="1"/>
          <p:nvPr/>
        </p:nvSpPr>
        <p:spPr>
          <a:xfrm>
            <a:off x="1119356" y="4175201"/>
            <a:ext cx="8162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Personality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309000-8A4E-10F6-8B71-293271738ED6}"/>
              </a:ext>
            </a:extLst>
          </p:cNvPr>
          <p:cNvSpPr txBox="1"/>
          <p:nvPr/>
        </p:nvSpPr>
        <p:spPr>
          <a:xfrm>
            <a:off x="2339437" y="3915100"/>
            <a:ext cx="8162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Behavioral symptom scale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60FD07-25A9-5AFF-DAB1-97FEE4E9D034}"/>
              </a:ext>
            </a:extLst>
          </p:cNvPr>
          <p:cNvSpPr txBox="1"/>
          <p:nvPr/>
        </p:nvSpPr>
        <p:spPr>
          <a:xfrm>
            <a:off x="3068534" y="4018086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Intelli-</a:t>
            </a:r>
            <a:br>
              <a:rPr lang="en-US" sz="1000" dirty="0">
                <a:latin typeface="Helvetica" pitchFamily="2" charset="0"/>
              </a:rPr>
            </a:br>
            <a:r>
              <a:rPr lang="en-US" sz="1000" dirty="0" err="1">
                <a:latin typeface="Helvetica" pitchFamily="2" charset="0"/>
              </a:rPr>
              <a:t>gence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93DE33-8579-F028-CDC2-61BC3ECC01DB}"/>
              </a:ext>
            </a:extLst>
          </p:cNvPr>
          <p:cNvSpPr txBox="1"/>
          <p:nvPr/>
        </p:nvSpPr>
        <p:spPr>
          <a:xfrm>
            <a:off x="7524675" y="5031986"/>
            <a:ext cx="232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B0604020104020204" pitchFamily="34" charset="77"/>
              </a:rPr>
              <a:t>*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7CBB371-9578-05E9-AA64-B70B853A8F39}"/>
              </a:ext>
            </a:extLst>
          </p:cNvPr>
          <p:cNvSpPr txBox="1"/>
          <p:nvPr/>
        </p:nvSpPr>
        <p:spPr>
          <a:xfrm>
            <a:off x="577309" y="4649903"/>
            <a:ext cx="232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B0604020104020204" pitchFamily="34" charset="77"/>
              </a:rPr>
              <a:t>*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279ED82-AD4C-FB77-9077-C5A3426E22E8}"/>
              </a:ext>
            </a:extLst>
          </p:cNvPr>
          <p:cNvSpPr txBox="1"/>
          <p:nvPr/>
        </p:nvSpPr>
        <p:spPr>
          <a:xfrm>
            <a:off x="2024179" y="8777734"/>
            <a:ext cx="232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*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BC82226-99EB-6D70-7CCC-D18C9B49515C}"/>
              </a:ext>
            </a:extLst>
          </p:cNvPr>
          <p:cNvSpPr txBox="1"/>
          <p:nvPr/>
        </p:nvSpPr>
        <p:spPr>
          <a:xfrm>
            <a:off x="2033330" y="8629185"/>
            <a:ext cx="2324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badi" panose="020B0604020104020204" pitchFamily="34" charset="77"/>
              </a:rPr>
              <a:t>†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940E764-E1BA-017E-50B1-A7A47BC45484}"/>
              </a:ext>
            </a:extLst>
          </p:cNvPr>
          <p:cNvSpPr txBox="1"/>
          <p:nvPr/>
        </p:nvSpPr>
        <p:spPr>
          <a:xfrm>
            <a:off x="3886755" y="4819180"/>
            <a:ext cx="2324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badi" panose="020B0604020104020204" pitchFamily="34" charset="77"/>
              </a:rPr>
              <a:t>†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36C2CC1-3E2B-DEFA-915D-32387BFBF966}"/>
              </a:ext>
            </a:extLst>
          </p:cNvPr>
          <p:cNvSpPr txBox="1"/>
          <p:nvPr/>
        </p:nvSpPr>
        <p:spPr>
          <a:xfrm>
            <a:off x="2435756" y="7032680"/>
            <a:ext cx="232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B0604020104020204" pitchFamily="34" charset="77"/>
              </a:rPr>
              <a:t>*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E9E06BD-5882-1D5E-CEC5-37ECEF74F45A}"/>
              </a:ext>
            </a:extLst>
          </p:cNvPr>
          <p:cNvSpPr txBox="1"/>
          <p:nvPr/>
        </p:nvSpPr>
        <p:spPr>
          <a:xfrm>
            <a:off x="2796982" y="6834594"/>
            <a:ext cx="232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B0604020104020204" pitchFamily="34" charset="77"/>
              </a:rPr>
              <a:t>*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E53DA45-E63A-FC32-CA2E-4E32EDA12DC9}"/>
              </a:ext>
            </a:extLst>
          </p:cNvPr>
          <p:cNvSpPr txBox="1"/>
          <p:nvPr/>
        </p:nvSpPr>
        <p:spPr>
          <a:xfrm>
            <a:off x="953820" y="6813795"/>
            <a:ext cx="2324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badi" panose="020B0604020104020204" pitchFamily="34" charset="77"/>
              </a:rPr>
              <a:t>†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031F1BA-06E7-F9E7-4827-1CC8DB7ECBEA}"/>
              </a:ext>
            </a:extLst>
          </p:cNvPr>
          <p:cNvSpPr txBox="1"/>
          <p:nvPr/>
        </p:nvSpPr>
        <p:spPr>
          <a:xfrm>
            <a:off x="8013041" y="4959885"/>
            <a:ext cx="232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B0604020104020204" pitchFamily="34" charset="77"/>
              </a:rPr>
              <a:t>*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BD705F0-76DB-7056-52F8-9046A1310914}"/>
              </a:ext>
            </a:extLst>
          </p:cNvPr>
          <p:cNvSpPr txBox="1"/>
          <p:nvPr/>
        </p:nvSpPr>
        <p:spPr>
          <a:xfrm>
            <a:off x="8410656" y="6728439"/>
            <a:ext cx="432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badi" panose="020B0604020104020204" pitchFamily="34" charset="77"/>
              </a:rPr>
              <a:t>***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ED7EFED-63AC-4568-8737-17EDB619AEE1}"/>
              </a:ext>
            </a:extLst>
          </p:cNvPr>
          <p:cNvSpPr txBox="1"/>
          <p:nvPr/>
        </p:nvSpPr>
        <p:spPr>
          <a:xfrm>
            <a:off x="8894653" y="6621426"/>
            <a:ext cx="432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badi" panose="020B0604020104020204" pitchFamily="34" charset="77"/>
              </a:rPr>
              <a:t>*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0F73A92-864F-22FD-C768-1172970E50B2}"/>
              </a:ext>
            </a:extLst>
          </p:cNvPr>
          <p:cNvSpPr txBox="1"/>
          <p:nvPr/>
        </p:nvSpPr>
        <p:spPr>
          <a:xfrm>
            <a:off x="9489915" y="6460323"/>
            <a:ext cx="232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B0604020104020204" pitchFamily="34" charset="77"/>
              </a:rPr>
              <a:t>*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A9384AC-A32A-343A-60D1-2076B388AA8B}"/>
              </a:ext>
            </a:extLst>
          </p:cNvPr>
          <p:cNvSpPr txBox="1"/>
          <p:nvPr/>
        </p:nvSpPr>
        <p:spPr>
          <a:xfrm>
            <a:off x="9969606" y="6549950"/>
            <a:ext cx="232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badi" panose="020B0604020104020204" pitchFamily="34" charset="77"/>
              </a:rPr>
              <a:t>*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E93001-E4C2-38A8-8AD6-5BFACCE8B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628665"/>
              </p:ext>
            </p:extLst>
          </p:nvPr>
        </p:nvGraphicFramePr>
        <p:xfrm>
          <a:off x="5610939" y="8337797"/>
          <a:ext cx="1851138" cy="602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720">
                  <a:extLst>
                    <a:ext uri="{9D8B030D-6E8A-4147-A177-3AD203B41FA5}">
                      <a16:colId xmlns:a16="http://schemas.microsoft.com/office/drawing/2014/main" val="1213894982"/>
                    </a:ext>
                  </a:extLst>
                </a:gridCol>
                <a:gridCol w="372694">
                  <a:extLst>
                    <a:ext uri="{9D8B030D-6E8A-4147-A177-3AD203B41FA5}">
                      <a16:colId xmlns:a16="http://schemas.microsoft.com/office/drawing/2014/main" val="3208104658"/>
                    </a:ext>
                  </a:extLst>
                </a:gridCol>
                <a:gridCol w="342359">
                  <a:extLst>
                    <a:ext uri="{9D8B030D-6E8A-4147-A177-3AD203B41FA5}">
                      <a16:colId xmlns:a16="http://schemas.microsoft.com/office/drawing/2014/main" val="8878848"/>
                    </a:ext>
                  </a:extLst>
                </a:gridCol>
                <a:gridCol w="433365">
                  <a:extLst>
                    <a:ext uri="{9D8B030D-6E8A-4147-A177-3AD203B41FA5}">
                      <a16:colId xmlns:a16="http://schemas.microsoft.com/office/drawing/2014/main" val="4254216446"/>
                    </a:ext>
                  </a:extLst>
                </a:gridCol>
              </a:tblGrid>
              <a:tr h="171173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p-value</a:t>
                      </a:r>
                    </a:p>
                  </a:txBody>
                  <a:tcPr marL="9144" marR="9144" marT="9144" marB="914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&lt; 0.05</a:t>
                      </a:r>
                    </a:p>
                  </a:txBody>
                  <a:tcPr marL="9144" marR="9144" marT="9144" marB="914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&lt;0.01</a:t>
                      </a:r>
                    </a:p>
                  </a:txBody>
                  <a:tcPr marL="9144" marR="9144" marT="9144" marB="914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&lt;0.001</a:t>
                      </a:r>
                    </a:p>
                  </a:txBody>
                  <a:tcPr marL="9144" marR="9144" marT="9144" marB="914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085719"/>
                  </a:ext>
                </a:extLst>
              </a:tr>
              <a:tr h="171173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uncorrected</a:t>
                      </a:r>
                    </a:p>
                  </a:txBody>
                  <a:tcPr marL="9144" marR="9144" marT="9144" marB="9144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15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Abadi" panose="020B0604020104020204" pitchFamily="34" charset="77"/>
                        </a:rPr>
                        <a:t>†</a:t>
                      </a:r>
                    </a:p>
                  </a:txBody>
                  <a:tcPr marL="9144" marR="9144" marT="9144" marB="9144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15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Abadi" panose="020B0604020104020204" pitchFamily="34" charset="77"/>
                        </a:rPr>
                        <a:t>††</a:t>
                      </a:r>
                    </a:p>
                  </a:txBody>
                  <a:tcPr marL="9144" marR="9144" marT="9144" marB="9144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515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Abadi" panose="020B0604020104020204" pitchFamily="34" charset="77"/>
                        </a:rPr>
                        <a:t>†††</a:t>
                      </a:r>
                    </a:p>
                  </a:txBody>
                  <a:tcPr marL="9144" marR="9144" marT="9144" marB="9144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723138"/>
                  </a:ext>
                </a:extLst>
              </a:tr>
              <a:tr h="260326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corrected</a:t>
                      </a:r>
                    </a:p>
                  </a:txBody>
                  <a:tcPr marL="9144" marR="9144" marT="9144" marB="914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marL="9144" marR="9144" marT="9144" marB="914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**</a:t>
                      </a:r>
                    </a:p>
                  </a:txBody>
                  <a:tcPr marL="9144" marR="9144" marT="9144" marB="914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***</a:t>
                      </a:r>
                    </a:p>
                  </a:txBody>
                  <a:tcPr marL="9144" marR="9144" marT="9144" marB="9144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08577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EA7F4AF-1340-CFA1-3380-682C97D68BD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535" t="6010"/>
          <a:stretch>
            <a:fillRect/>
          </a:stretch>
        </p:blipFill>
        <p:spPr>
          <a:xfrm>
            <a:off x="3663941" y="4469097"/>
            <a:ext cx="3320854" cy="36564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3C9FBB-AE1A-674A-43E0-C77E825D79EF}"/>
              </a:ext>
            </a:extLst>
          </p:cNvPr>
          <p:cNvSpPr txBox="1"/>
          <p:nvPr/>
        </p:nvSpPr>
        <p:spPr>
          <a:xfrm>
            <a:off x="4032736" y="4154077"/>
            <a:ext cx="8162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Helvetica" pitchFamily="2" charset="0"/>
              </a:rPr>
              <a:t>Personality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9DA7EC-96FC-24C5-4903-5D383FD5718F}"/>
              </a:ext>
            </a:extLst>
          </p:cNvPr>
          <p:cNvSpPr txBox="1"/>
          <p:nvPr/>
        </p:nvSpPr>
        <p:spPr>
          <a:xfrm>
            <a:off x="4973496" y="4133721"/>
            <a:ext cx="16898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Helvetica" pitchFamily="2" charset="0"/>
              </a:rPr>
              <a:t>Behavioral symptom scale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D72CAA-D02F-23DF-53EF-BFD108B6F113}"/>
              </a:ext>
            </a:extLst>
          </p:cNvPr>
          <p:cNvSpPr txBox="1"/>
          <p:nvPr/>
        </p:nvSpPr>
        <p:spPr>
          <a:xfrm>
            <a:off x="3995894" y="3631702"/>
            <a:ext cx="28286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Helvetica" pitchFamily="2" charset="0"/>
              </a:rPr>
              <a:t>e. </a:t>
            </a:r>
            <a:r>
              <a:rPr lang="en-US" sz="1000" b="1" dirty="0">
                <a:latin typeface="Helvetica" pitchFamily="2" charset="0"/>
              </a:rPr>
              <a:t>Replication Cohort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52B260-9101-48CA-C5EF-1393B39B54AA}"/>
              </a:ext>
            </a:extLst>
          </p:cNvPr>
          <p:cNvSpPr txBox="1"/>
          <p:nvPr/>
        </p:nvSpPr>
        <p:spPr>
          <a:xfrm>
            <a:off x="3171186" y="4663909"/>
            <a:ext cx="2324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badi" panose="020B0604020104020204" pitchFamily="34" charset="77"/>
              </a:rPr>
              <a:t>†</a:t>
            </a:r>
          </a:p>
        </p:txBody>
      </p:sp>
    </p:spTree>
    <p:extLst>
      <p:ext uri="{BB962C8B-B14F-4D97-AF65-F5344CB8AC3E}">
        <p14:creationId xmlns:p14="http://schemas.microsoft.com/office/powerpoint/2010/main" val="2791160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14170</TotalTime>
  <Words>99</Words>
  <Application>Microsoft Macintosh PowerPoint</Application>
  <PresentationFormat>Custom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Abadi</vt:lpstr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Tariq Pirzada</dc:creator>
  <cp:lastModifiedBy>Chun Yin Siu</cp:lastModifiedBy>
  <cp:revision>28</cp:revision>
  <dcterms:created xsi:type="dcterms:W3CDTF">2025-11-07T18:11:02Z</dcterms:created>
  <dcterms:modified xsi:type="dcterms:W3CDTF">2026-07-14T22:13:54Z</dcterms:modified>
</cp:coreProperties>
</file>