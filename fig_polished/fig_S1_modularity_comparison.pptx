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8" r:id="rId2"/>
  </p:sldIdLst>
  <p:sldSz cx="12192000" cy="502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03"/>
    <p:restoredTop sz="94658"/>
  </p:normalViewPr>
  <p:slideViewPr>
    <p:cSldViewPr snapToGrid="0">
      <p:cViewPr varScale="1">
        <p:scale>
          <a:sx n="101" d="100"/>
          <a:sy n="101" d="100"/>
        </p:scale>
        <p:origin x="216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23066"/>
            <a:ext cx="9144000" cy="1750907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41495"/>
            <a:ext cx="9144000" cy="1214225"/>
          </a:xfrm>
        </p:spPr>
        <p:txBody>
          <a:bodyPr/>
          <a:lstStyle>
            <a:lvl1pPr marL="0" indent="0" algn="ctr">
              <a:buNone/>
              <a:defRPr sz="1760"/>
            </a:lvl1pPr>
            <a:lvl2pPr marL="335265" indent="0" algn="ctr">
              <a:buNone/>
              <a:defRPr sz="1467"/>
            </a:lvl2pPr>
            <a:lvl3pPr marL="670530" indent="0" algn="ctr">
              <a:buNone/>
              <a:defRPr sz="1320"/>
            </a:lvl3pPr>
            <a:lvl4pPr marL="1005794" indent="0" algn="ctr">
              <a:buNone/>
              <a:defRPr sz="1173"/>
            </a:lvl4pPr>
            <a:lvl5pPr marL="1341059" indent="0" algn="ctr">
              <a:buNone/>
              <a:defRPr sz="1173"/>
            </a:lvl5pPr>
            <a:lvl6pPr marL="1676324" indent="0" algn="ctr">
              <a:buNone/>
              <a:defRPr sz="1173"/>
            </a:lvl6pPr>
            <a:lvl7pPr marL="2011589" indent="0" algn="ctr">
              <a:buNone/>
              <a:defRPr sz="1173"/>
            </a:lvl7pPr>
            <a:lvl8pPr marL="2346853" indent="0" algn="ctr">
              <a:buNone/>
              <a:defRPr sz="1173"/>
            </a:lvl8pPr>
            <a:lvl9pPr marL="2682118" indent="0" algn="ctr">
              <a:buNone/>
              <a:defRPr sz="117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29E1-4CA6-4243-8179-4A3695D4D325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3D51-56A5-724A-A79B-CB7EA0989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96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29E1-4CA6-4243-8179-4A3695D4D325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3D51-56A5-724A-A79B-CB7EA0989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12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253808"/>
            <a:ext cx="10515600" cy="209200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365607"/>
            <a:ext cx="10515600" cy="1100137"/>
          </a:xfrm>
        </p:spPr>
        <p:txBody>
          <a:bodyPr/>
          <a:lstStyle>
            <a:lvl1pPr marL="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1pPr>
            <a:lvl2pPr marL="335265" indent="0">
              <a:buNone/>
              <a:defRPr sz="1467">
                <a:solidFill>
                  <a:schemeClr val="tx1">
                    <a:tint val="82000"/>
                  </a:schemeClr>
                </a:solidFill>
              </a:defRPr>
            </a:lvl2pPr>
            <a:lvl3pPr marL="67053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3pPr>
            <a:lvl4pPr marL="1005794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4pPr>
            <a:lvl5pPr marL="1341059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5pPr>
            <a:lvl6pPr marL="1676324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6pPr>
            <a:lvl7pPr marL="2011589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7pPr>
            <a:lvl8pPr marL="2346853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8pPr>
            <a:lvl9pPr marL="2682118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29E1-4CA6-4243-8179-4A3695D4D325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3D51-56A5-724A-A79B-CB7EA0989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54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38792"/>
            <a:ext cx="518160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38792"/>
            <a:ext cx="518160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29E1-4CA6-4243-8179-4A3695D4D325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3D51-56A5-724A-A79B-CB7EA0989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00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67758"/>
            <a:ext cx="10515600" cy="972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232853"/>
            <a:ext cx="5157787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837055"/>
            <a:ext cx="5157787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232853"/>
            <a:ext cx="5183188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837055"/>
            <a:ext cx="5183188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29E1-4CA6-4243-8179-4A3695D4D325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3D51-56A5-724A-A79B-CB7EA0989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532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29E1-4CA6-4243-8179-4A3695D4D325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3D51-56A5-724A-A79B-CB7EA0989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192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29E1-4CA6-4243-8179-4A3695D4D325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3D51-56A5-724A-A79B-CB7EA0989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6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35280"/>
            <a:ext cx="3932237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724112"/>
            <a:ext cx="6172200" cy="3573992"/>
          </a:xfrm>
        </p:spPr>
        <p:txBody>
          <a:bodyPr/>
          <a:lstStyle>
            <a:lvl1pPr>
              <a:defRPr sz="2347"/>
            </a:lvl1pPr>
            <a:lvl2pPr>
              <a:defRPr sz="2053"/>
            </a:lvl2pPr>
            <a:lvl3pPr>
              <a:defRPr sz="1760"/>
            </a:lvl3pPr>
            <a:lvl4pPr>
              <a:defRPr sz="1467"/>
            </a:lvl4pPr>
            <a:lvl5pPr>
              <a:defRPr sz="1467"/>
            </a:lvl5pPr>
            <a:lvl6pPr>
              <a:defRPr sz="1467"/>
            </a:lvl6pPr>
            <a:lvl7pPr>
              <a:defRPr sz="1467"/>
            </a:lvl7pPr>
            <a:lvl8pPr>
              <a:defRPr sz="1467"/>
            </a:lvl8pPr>
            <a:lvl9pPr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508760"/>
            <a:ext cx="3932237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29E1-4CA6-4243-8179-4A3695D4D325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3D51-56A5-724A-A79B-CB7EA0989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041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35280"/>
            <a:ext cx="3932237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724112"/>
            <a:ext cx="6172200" cy="3573992"/>
          </a:xfrm>
        </p:spPr>
        <p:txBody>
          <a:bodyPr anchor="t"/>
          <a:lstStyle>
            <a:lvl1pPr marL="0" indent="0">
              <a:buNone/>
              <a:defRPr sz="2347"/>
            </a:lvl1pPr>
            <a:lvl2pPr marL="335265" indent="0">
              <a:buNone/>
              <a:defRPr sz="2053"/>
            </a:lvl2pPr>
            <a:lvl3pPr marL="670530" indent="0">
              <a:buNone/>
              <a:defRPr sz="1760"/>
            </a:lvl3pPr>
            <a:lvl4pPr marL="1005794" indent="0">
              <a:buNone/>
              <a:defRPr sz="1467"/>
            </a:lvl4pPr>
            <a:lvl5pPr marL="1341059" indent="0">
              <a:buNone/>
              <a:defRPr sz="1467"/>
            </a:lvl5pPr>
            <a:lvl6pPr marL="1676324" indent="0">
              <a:buNone/>
              <a:defRPr sz="1467"/>
            </a:lvl6pPr>
            <a:lvl7pPr marL="2011589" indent="0">
              <a:buNone/>
              <a:defRPr sz="1467"/>
            </a:lvl7pPr>
            <a:lvl8pPr marL="2346853" indent="0">
              <a:buNone/>
              <a:defRPr sz="1467"/>
            </a:lvl8pPr>
            <a:lvl9pPr marL="2682118" indent="0">
              <a:buNone/>
              <a:defRPr sz="14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508760"/>
            <a:ext cx="3932237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29E1-4CA6-4243-8179-4A3695D4D325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3D51-56A5-724A-A79B-CB7EA0989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331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29E1-4CA6-4243-8179-4A3695D4D325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3D51-56A5-724A-A79B-CB7EA0989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41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67758"/>
            <a:ext cx="2628900" cy="42620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67758"/>
            <a:ext cx="7734300" cy="42620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29E1-4CA6-4243-8179-4A3695D4D325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3D51-56A5-724A-A79B-CB7EA0989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634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67758"/>
            <a:ext cx="10515600" cy="97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38792"/>
            <a:ext cx="10515600" cy="319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661324"/>
            <a:ext cx="27432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6A29E1-4CA6-4243-8179-4A3695D4D325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661324"/>
            <a:ext cx="41148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661324"/>
            <a:ext cx="27432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D73D51-56A5-724A-A79B-CB7EA0989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689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70530" rtl="0" eaLnBrk="1" latinLnBrk="0" hangingPunct="1">
        <a:lnSpc>
          <a:spcPct val="90000"/>
        </a:lnSpc>
        <a:spcBef>
          <a:spcPct val="0"/>
        </a:spcBef>
        <a:buNone/>
        <a:defRPr sz="32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7632" indent="-167632" algn="l" defTabSz="67053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0289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38162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3pPr>
      <a:lvl4pPr marL="117342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50869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84395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17922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51448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849750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1pPr>
      <a:lvl2pPr marL="335265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2pPr>
      <a:lvl3pPr marL="67053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3pPr>
      <a:lvl4pPr marL="100579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34105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67632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01158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346853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682118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7A74C962-4A88-3D3E-364D-FE438BB9E2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753"/>
          <a:stretch>
            <a:fillRect/>
          </a:stretch>
        </p:blipFill>
        <p:spPr>
          <a:xfrm>
            <a:off x="3049016" y="399045"/>
            <a:ext cx="3044952" cy="2026657"/>
          </a:xfrm>
          <a:prstGeom prst="rect">
            <a:avLst/>
          </a:prstGeom>
        </p:spPr>
      </p:pic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18F61C6D-93E2-094A-7948-47DB3B868F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753"/>
          <a:stretch>
            <a:fillRect/>
          </a:stretch>
        </p:blipFill>
        <p:spPr>
          <a:xfrm>
            <a:off x="1" y="399044"/>
            <a:ext cx="3044952" cy="2026657"/>
          </a:xfrm>
          <a:prstGeom prst="rect">
            <a:avLst/>
          </a:prstGeom>
        </p:spPr>
      </p:pic>
      <p:pic>
        <p:nvPicPr>
          <p:cNvPr id="9" name="Picture 8" descr="A diagram of a diagram&#10;&#10;AI-generated content may be incorrect.">
            <a:extLst>
              <a:ext uri="{FF2B5EF4-FFF2-40B4-BE49-F238E27FC236}">
                <a16:creationId xmlns:a16="http://schemas.microsoft.com/office/drawing/2014/main" id="{CA1819A5-A412-8901-3A0D-F9F78B3C33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753"/>
          <a:stretch>
            <a:fillRect/>
          </a:stretch>
        </p:blipFill>
        <p:spPr>
          <a:xfrm>
            <a:off x="6098033" y="399045"/>
            <a:ext cx="3044952" cy="2026657"/>
          </a:xfrm>
          <a:prstGeom prst="rect">
            <a:avLst/>
          </a:prstGeom>
        </p:spPr>
      </p:pic>
      <p:pic>
        <p:nvPicPr>
          <p:cNvPr id="11" name="Picture 10" descr="A diagram of a graph&#10;&#10;AI-generated content may be incorrect.">
            <a:extLst>
              <a:ext uri="{FF2B5EF4-FFF2-40B4-BE49-F238E27FC236}">
                <a16:creationId xmlns:a16="http://schemas.microsoft.com/office/drawing/2014/main" id="{338D3790-8D23-8D21-0767-3487F70D5F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753"/>
          <a:stretch>
            <a:fillRect/>
          </a:stretch>
        </p:blipFill>
        <p:spPr>
          <a:xfrm>
            <a:off x="9147049" y="399045"/>
            <a:ext cx="3044952" cy="2026657"/>
          </a:xfrm>
          <a:prstGeom prst="rect">
            <a:avLst/>
          </a:prstGeom>
        </p:spPr>
      </p:pic>
      <p:pic>
        <p:nvPicPr>
          <p:cNvPr id="13" name="Picture 12" descr="A diagram of a graph&#10;&#10;AI-generated content may be incorrect.">
            <a:extLst>
              <a:ext uri="{FF2B5EF4-FFF2-40B4-BE49-F238E27FC236}">
                <a16:creationId xmlns:a16="http://schemas.microsoft.com/office/drawing/2014/main" id="{725A1A71-03CB-EC64-D385-928345F1074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9753"/>
          <a:stretch>
            <a:fillRect/>
          </a:stretch>
        </p:blipFill>
        <p:spPr>
          <a:xfrm>
            <a:off x="1" y="2794002"/>
            <a:ext cx="3044952" cy="2026657"/>
          </a:xfrm>
          <a:prstGeom prst="rect">
            <a:avLst/>
          </a:prstGeom>
        </p:spPr>
      </p:pic>
      <p:pic>
        <p:nvPicPr>
          <p:cNvPr id="15" name="Picture 14" descr="A graph of a number of blue and black squares&#10;&#10;AI-generated content may be incorrect.">
            <a:extLst>
              <a:ext uri="{FF2B5EF4-FFF2-40B4-BE49-F238E27FC236}">
                <a16:creationId xmlns:a16="http://schemas.microsoft.com/office/drawing/2014/main" id="{0A03B8CC-702E-19FD-F420-147F1CE6173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9753"/>
          <a:stretch>
            <a:fillRect/>
          </a:stretch>
        </p:blipFill>
        <p:spPr>
          <a:xfrm>
            <a:off x="3046985" y="2794002"/>
            <a:ext cx="3044952" cy="2026657"/>
          </a:xfrm>
          <a:prstGeom prst="rect">
            <a:avLst/>
          </a:prstGeom>
        </p:spPr>
      </p:pic>
      <p:pic>
        <p:nvPicPr>
          <p:cNvPr id="17" name="Picture 16" descr="A diagram of a number of points&#10;&#10;AI-generated content may be incorrect.">
            <a:extLst>
              <a:ext uri="{FF2B5EF4-FFF2-40B4-BE49-F238E27FC236}">
                <a16:creationId xmlns:a16="http://schemas.microsoft.com/office/drawing/2014/main" id="{0B2525E3-D8D3-699C-7C3D-C40F7401ADE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9753"/>
          <a:stretch>
            <a:fillRect/>
          </a:stretch>
        </p:blipFill>
        <p:spPr>
          <a:xfrm>
            <a:off x="6093968" y="2794002"/>
            <a:ext cx="3044952" cy="2026657"/>
          </a:xfrm>
          <a:prstGeom prst="rect">
            <a:avLst/>
          </a:prstGeom>
        </p:spPr>
      </p:pic>
      <p:pic>
        <p:nvPicPr>
          <p:cNvPr id="19" name="Picture 18" descr="A diagram of a graph&#10;&#10;AI-generated content may be incorrect.">
            <a:extLst>
              <a:ext uri="{FF2B5EF4-FFF2-40B4-BE49-F238E27FC236}">
                <a16:creationId xmlns:a16="http://schemas.microsoft.com/office/drawing/2014/main" id="{08D48EC9-DE93-2783-25CF-59FC23678B7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9753"/>
          <a:stretch>
            <a:fillRect/>
          </a:stretch>
        </p:blipFill>
        <p:spPr>
          <a:xfrm>
            <a:off x="9140953" y="2794002"/>
            <a:ext cx="3044952" cy="202665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670128B-BE95-A885-79DF-FDE4478C9F5B}"/>
              </a:ext>
            </a:extLst>
          </p:cNvPr>
          <p:cNvSpPr txBox="1"/>
          <p:nvPr/>
        </p:nvSpPr>
        <p:spPr>
          <a:xfrm>
            <a:off x="279" y="76201"/>
            <a:ext cx="31383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Helvetica" pitchFamily="2" charset="0"/>
              </a:rPr>
              <a:t>a. </a:t>
            </a:r>
            <a:r>
              <a:rPr lang="en-US" sz="1100" dirty="0">
                <a:latin typeface="Helvetica" pitchFamily="2" charset="0"/>
              </a:rPr>
              <a:t>Exploration cohort, Schaefer 100 x 7, LR</a:t>
            </a:r>
            <a:br>
              <a:rPr lang="en-US" sz="1100" dirty="0">
                <a:latin typeface="Helvetica" pitchFamily="2" charset="0"/>
              </a:rPr>
            </a:br>
            <a:r>
              <a:rPr lang="en-US" sz="1100" dirty="0">
                <a:latin typeface="Helvetica" pitchFamily="2" charset="0"/>
              </a:rPr>
              <a:t>(Fig 2d)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61D4E1-3824-FCFE-8591-362905DFDADD}"/>
              </a:ext>
            </a:extLst>
          </p:cNvPr>
          <p:cNvSpPr txBox="1"/>
          <p:nvPr/>
        </p:nvSpPr>
        <p:spPr>
          <a:xfrm>
            <a:off x="3183778" y="76201"/>
            <a:ext cx="29576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Helvetica" pitchFamily="2" charset="0"/>
              </a:rPr>
              <a:t>b. </a:t>
            </a:r>
            <a:r>
              <a:rPr lang="en-US" sz="1100" dirty="0">
                <a:latin typeface="Helvetica" pitchFamily="2" charset="0"/>
              </a:rPr>
              <a:t>Exploration cohort, Schaefer 100 x 7, </a:t>
            </a:r>
            <a:r>
              <a:rPr lang="en-US" sz="1100" b="1" dirty="0">
                <a:latin typeface="Helvetica" pitchFamily="2" charset="0"/>
              </a:rPr>
              <a:t>RL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B32A13-7CD6-D555-8AA0-CA66194E91F0}"/>
              </a:ext>
            </a:extLst>
          </p:cNvPr>
          <p:cNvSpPr txBox="1"/>
          <p:nvPr/>
        </p:nvSpPr>
        <p:spPr>
          <a:xfrm>
            <a:off x="6084570" y="76201"/>
            <a:ext cx="3048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Helvetica" pitchFamily="2" charset="0"/>
              </a:rPr>
              <a:t>c. </a:t>
            </a:r>
            <a:r>
              <a:rPr lang="en-US" sz="1100" dirty="0">
                <a:latin typeface="Helvetica" pitchFamily="2" charset="0"/>
              </a:rPr>
              <a:t>Exploration cohort, </a:t>
            </a:r>
            <a:r>
              <a:rPr lang="en-US" sz="1100" b="1" dirty="0">
                <a:latin typeface="Helvetica" pitchFamily="2" charset="0"/>
              </a:rPr>
              <a:t>Schaefer 200 x 7</a:t>
            </a:r>
            <a:r>
              <a:rPr lang="en-US" sz="1100" dirty="0">
                <a:latin typeface="Helvetica" pitchFamily="2" charset="0"/>
              </a:rPr>
              <a:t>, LR</a:t>
            </a:r>
            <a:r>
              <a:rPr lang="en-US" sz="1100" b="1" dirty="0">
                <a:latin typeface="Helvetica" pitchFamily="2" charset="0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31D4D0-3480-7D34-15DB-BF5BC869ED21}"/>
              </a:ext>
            </a:extLst>
          </p:cNvPr>
          <p:cNvSpPr txBox="1"/>
          <p:nvPr/>
        </p:nvSpPr>
        <p:spPr>
          <a:xfrm>
            <a:off x="9042239" y="76201"/>
            <a:ext cx="31160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Helvetica" pitchFamily="2" charset="0"/>
              </a:rPr>
              <a:t>d. Coherence Condition Applied</a:t>
            </a:r>
          </a:p>
          <a:p>
            <a:pPr algn="ctr"/>
            <a:r>
              <a:rPr lang="en-US" sz="1100" dirty="0">
                <a:latin typeface="Helvetica" pitchFamily="2" charset="0"/>
              </a:rPr>
              <a:t>Exploration cohort, Schaefer 100 x 7, LR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4ED2B3-7AD5-6BDF-C1FE-4E72FBB3A4BF}"/>
              </a:ext>
            </a:extLst>
          </p:cNvPr>
          <p:cNvSpPr txBox="1"/>
          <p:nvPr/>
        </p:nvSpPr>
        <p:spPr>
          <a:xfrm>
            <a:off x="-22584" y="2420696"/>
            <a:ext cx="31840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Helvetica" pitchFamily="2" charset="0"/>
              </a:rPr>
              <a:t>e. PCA Applied (90% explained variance)</a:t>
            </a:r>
          </a:p>
          <a:p>
            <a:pPr algn="ctr"/>
            <a:r>
              <a:rPr lang="en-US" sz="1100" dirty="0">
                <a:latin typeface="Helvetica" pitchFamily="2" charset="0"/>
              </a:rPr>
              <a:t>Exploration cohort, Schaefer 100 x 7, LR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E645F2-B8D3-9823-9A56-5062CBC894C4}"/>
              </a:ext>
            </a:extLst>
          </p:cNvPr>
          <p:cNvSpPr txBox="1"/>
          <p:nvPr/>
        </p:nvSpPr>
        <p:spPr>
          <a:xfrm>
            <a:off x="3198419" y="2360033"/>
            <a:ext cx="31840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Helvetica" pitchFamily="2" charset="0"/>
              </a:rPr>
              <a:t>f. PCA Applied (30 components)</a:t>
            </a:r>
          </a:p>
          <a:p>
            <a:pPr algn="ctr"/>
            <a:r>
              <a:rPr lang="en-US" sz="1100" dirty="0">
                <a:latin typeface="Helvetica" pitchFamily="2" charset="0"/>
              </a:rPr>
              <a:t>Exploration cohort, Schaefer 100 x 7, LR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34146A-6B54-D948-6640-F834B9070330}"/>
              </a:ext>
            </a:extLst>
          </p:cNvPr>
          <p:cNvSpPr txBox="1"/>
          <p:nvPr/>
        </p:nvSpPr>
        <p:spPr>
          <a:xfrm>
            <a:off x="6124246" y="2317085"/>
            <a:ext cx="31840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Helvetica" pitchFamily="2" charset="0"/>
              </a:rPr>
              <a:t>g. PCA Applied (35 components)</a:t>
            </a:r>
          </a:p>
          <a:p>
            <a:pPr algn="ctr"/>
            <a:r>
              <a:rPr lang="en-US" sz="1100" dirty="0">
                <a:latin typeface="Helvetica" pitchFamily="2" charset="0"/>
              </a:rPr>
              <a:t>Exploration cohort, Schaefer 100 x 7, LR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502C3D-4369-16F9-BF53-B6AE6921F794}"/>
              </a:ext>
            </a:extLst>
          </p:cNvPr>
          <p:cNvSpPr txBox="1"/>
          <p:nvPr/>
        </p:nvSpPr>
        <p:spPr>
          <a:xfrm>
            <a:off x="9093258" y="2314367"/>
            <a:ext cx="31840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Helvetica" pitchFamily="2" charset="0"/>
              </a:rPr>
              <a:t>h. PCA Applied (40 components)</a:t>
            </a:r>
          </a:p>
          <a:p>
            <a:pPr algn="ctr"/>
            <a:r>
              <a:rPr lang="en-US" sz="1100" dirty="0">
                <a:latin typeface="Helvetica" pitchFamily="2" charset="0"/>
              </a:rPr>
              <a:t>Exploration cohort, Schaefer 100 x 7, LR</a:t>
            </a:r>
          </a:p>
        </p:txBody>
      </p:sp>
    </p:spTree>
    <p:extLst>
      <p:ext uri="{BB962C8B-B14F-4D97-AF65-F5344CB8AC3E}">
        <p14:creationId xmlns:p14="http://schemas.microsoft.com/office/powerpoint/2010/main" val="2700892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10049</TotalTime>
  <Words>122</Words>
  <Application>Microsoft Macintosh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Saad Tariq Pirzada</dc:creator>
  <cp:lastModifiedBy>Chun Yin Siu</cp:lastModifiedBy>
  <cp:revision>8</cp:revision>
  <dcterms:created xsi:type="dcterms:W3CDTF">2026-02-12T21:57:09Z</dcterms:created>
  <dcterms:modified xsi:type="dcterms:W3CDTF">2026-04-14T01:42:29Z</dcterms:modified>
</cp:coreProperties>
</file>